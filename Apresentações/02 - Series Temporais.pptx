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6.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7.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 id="2147483697" r:id="rId2"/>
    <p:sldMasterId id="2147483708" r:id="rId3"/>
    <p:sldMasterId id="2147483717" r:id="rId4"/>
    <p:sldMasterId id="2147483752" r:id="rId5"/>
    <p:sldMasterId id="2147483764" r:id="rId6"/>
    <p:sldMasterId id="2147483775" r:id="rId7"/>
    <p:sldMasterId id="2147483786" r:id="rId8"/>
  </p:sldMasterIdLst>
  <p:notesMasterIdLst>
    <p:notesMasterId r:id="rId35"/>
  </p:notesMasterIdLst>
  <p:handoutMasterIdLst>
    <p:handoutMasterId r:id="rId36"/>
  </p:handoutMasterIdLst>
  <p:sldIdLst>
    <p:sldId id="256" r:id="rId9"/>
    <p:sldId id="2520" r:id="rId10"/>
    <p:sldId id="2542" r:id="rId11"/>
    <p:sldId id="2524" r:id="rId12"/>
    <p:sldId id="2525" r:id="rId13"/>
    <p:sldId id="2526" r:id="rId14"/>
    <p:sldId id="2543" r:id="rId15"/>
    <p:sldId id="2544" r:id="rId16"/>
    <p:sldId id="2527" r:id="rId17"/>
    <p:sldId id="2545" r:id="rId18"/>
    <p:sldId id="2546" r:id="rId19"/>
    <p:sldId id="2547" r:id="rId20"/>
    <p:sldId id="2548" r:id="rId21"/>
    <p:sldId id="2549" r:id="rId22"/>
    <p:sldId id="2528" r:id="rId23"/>
    <p:sldId id="2529" r:id="rId24"/>
    <p:sldId id="2550" r:id="rId25"/>
    <p:sldId id="2551" r:id="rId26"/>
    <p:sldId id="2552" r:id="rId27"/>
    <p:sldId id="2553" r:id="rId28"/>
    <p:sldId id="2554" r:id="rId29"/>
    <p:sldId id="2555" r:id="rId30"/>
    <p:sldId id="2556" r:id="rId31"/>
    <p:sldId id="2557" r:id="rId32"/>
    <p:sldId id="2558" r:id="rId33"/>
    <p:sldId id="2559" r:id="rId34"/>
  </p:sldIdLst>
  <p:sldSz cx="9144000" cy="5143500" type="screen16x9"/>
  <p:notesSz cx="10234613" cy="7104063"/>
  <p:embeddedFontLst>
    <p:embeddedFont>
      <p:font typeface="Verdana" panose="020B060403050404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gerio Aguiar" initials="RA" lastIdx="1" clrIdx="0">
    <p:extLst>
      <p:ext uri="{19B8F6BF-5375-455C-9EA6-DF929625EA0E}">
        <p15:presenceInfo xmlns:p15="http://schemas.microsoft.com/office/powerpoint/2012/main" userId="86fef4cc378c395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6960A"/>
    <a:srgbClr val="FFD243"/>
    <a:srgbClr val="FFEDB3"/>
    <a:srgbClr val="FFD9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E0EB87-6F86-4DAB-AA45-32A1FB75C8D8}">
  <a:tblStyle styleId="{18E0EB87-6F86-4DAB-AA45-32A1FB75C8D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Estilo Claro 3 - Ênfase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C7853C-536D-4A76-A0AE-DD22124D55A5}" styleName="Estilo com Tema 1 - Ênfas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05" autoAdjust="0"/>
    <p:restoredTop sz="94561" autoAdjust="0"/>
  </p:normalViewPr>
  <p:slideViewPr>
    <p:cSldViewPr>
      <p:cViewPr varScale="1">
        <p:scale>
          <a:sx n="69" d="100"/>
          <a:sy n="69" d="100"/>
        </p:scale>
        <p:origin x="1082" y="25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font" Target="fonts/font3.fntdata"/><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handoutMaster" Target="handoutMasters/handout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notesMaster" Target="notesMasters/notesMaster1.xml"/><Relationship Id="rId43"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font" Target="fonts/font2.fntdata"/><Relationship Id="rId20" Type="http://schemas.openxmlformats.org/officeDocument/2006/relationships/slide" Target="slides/slide12.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4E7BF670-571C-49EB-A6A7-5E570C99D281}"/>
              </a:ext>
            </a:extLst>
          </p:cNvPr>
          <p:cNvSpPr>
            <a:spLocks noGrp="1"/>
          </p:cNvSpPr>
          <p:nvPr>
            <p:ph type="hdr" sz="quarter"/>
          </p:nvPr>
        </p:nvSpPr>
        <p:spPr>
          <a:xfrm>
            <a:off x="4" y="0"/>
            <a:ext cx="4434618" cy="355920"/>
          </a:xfrm>
          <a:prstGeom prst="rect">
            <a:avLst/>
          </a:prstGeom>
        </p:spPr>
        <p:txBody>
          <a:bodyPr vert="horz" lIns="91426" tIns="45712" rIns="91426" bIns="45712" rtlCol="0"/>
          <a:lstStyle>
            <a:lvl1pPr algn="l">
              <a:defRPr sz="1200"/>
            </a:lvl1pPr>
          </a:lstStyle>
          <a:p>
            <a:r>
              <a:rPr lang="pt-BR"/>
              <a:t>TREINA RECIFE</a:t>
            </a:r>
          </a:p>
        </p:txBody>
      </p:sp>
      <p:sp>
        <p:nvSpPr>
          <p:cNvPr id="3" name="Espaço Reservado para Data 2">
            <a:extLst>
              <a:ext uri="{FF2B5EF4-FFF2-40B4-BE49-F238E27FC236}">
                <a16:creationId xmlns:a16="http://schemas.microsoft.com/office/drawing/2014/main" id="{D75051FA-D892-43F3-9386-D6D2639B6B5C}"/>
              </a:ext>
            </a:extLst>
          </p:cNvPr>
          <p:cNvSpPr>
            <a:spLocks noGrp="1"/>
          </p:cNvSpPr>
          <p:nvPr>
            <p:ph type="dt" sz="quarter" idx="1"/>
          </p:nvPr>
        </p:nvSpPr>
        <p:spPr>
          <a:xfrm>
            <a:off x="5797710" y="0"/>
            <a:ext cx="4434617" cy="355920"/>
          </a:xfrm>
          <a:prstGeom prst="rect">
            <a:avLst/>
          </a:prstGeom>
        </p:spPr>
        <p:txBody>
          <a:bodyPr vert="horz" lIns="91426" tIns="45712" rIns="91426" bIns="45712" rtlCol="0"/>
          <a:lstStyle>
            <a:lvl1pPr algn="r">
              <a:defRPr sz="1200"/>
            </a:lvl1pPr>
          </a:lstStyle>
          <a:p>
            <a:endParaRPr lang="pt-BR"/>
          </a:p>
        </p:txBody>
      </p:sp>
      <p:sp>
        <p:nvSpPr>
          <p:cNvPr id="4" name="Espaço Reservado para Rodapé 3">
            <a:extLst>
              <a:ext uri="{FF2B5EF4-FFF2-40B4-BE49-F238E27FC236}">
                <a16:creationId xmlns:a16="http://schemas.microsoft.com/office/drawing/2014/main" id="{2A9435AC-CCB6-4B40-878E-D29AC4114AFD}"/>
              </a:ext>
            </a:extLst>
          </p:cNvPr>
          <p:cNvSpPr>
            <a:spLocks noGrp="1"/>
          </p:cNvSpPr>
          <p:nvPr>
            <p:ph type="ftr" sz="quarter" idx="2"/>
          </p:nvPr>
        </p:nvSpPr>
        <p:spPr>
          <a:xfrm>
            <a:off x="4" y="6748145"/>
            <a:ext cx="4434618" cy="355920"/>
          </a:xfrm>
          <a:prstGeom prst="rect">
            <a:avLst/>
          </a:prstGeom>
        </p:spPr>
        <p:txBody>
          <a:bodyPr vert="horz" lIns="91426" tIns="45712" rIns="91426" bIns="45712" rtlCol="0" anchor="b"/>
          <a:lstStyle>
            <a:lvl1pPr algn="l">
              <a:defRPr sz="1200"/>
            </a:lvl1pPr>
          </a:lstStyle>
          <a:p>
            <a:r>
              <a:rPr lang="pt-BR"/>
              <a:t>SIGA NOSSO INSTAGRAM: @treina_recife</a:t>
            </a:r>
          </a:p>
        </p:txBody>
      </p:sp>
      <p:sp>
        <p:nvSpPr>
          <p:cNvPr id="5" name="Espaço Reservado para Número de Slide 4">
            <a:extLst>
              <a:ext uri="{FF2B5EF4-FFF2-40B4-BE49-F238E27FC236}">
                <a16:creationId xmlns:a16="http://schemas.microsoft.com/office/drawing/2014/main" id="{1EFB0033-2C8B-4436-B83A-797AC70BDE39}"/>
              </a:ext>
            </a:extLst>
          </p:cNvPr>
          <p:cNvSpPr>
            <a:spLocks noGrp="1"/>
          </p:cNvSpPr>
          <p:nvPr>
            <p:ph type="sldNum" sz="quarter" idx="3"/>
          </p:nvPr>
        </p:nvSpPr>
        <p:spPr>
          <a:xfrm>
            <a:off x="5797710" y="6748145"/>
            <a:ext cx="4434617" cy="355920"/>
          </a:xfrm>
          <a:prstGeom prst="rect">
            <a:avLst/>
          </a:prstGeom>
        </p:spPr>
        <p:txBody>
          <a:bodyPr vert="horz" lIns="91426" tIns="45712" rIns="91426" bIns="45712" rtlCol="0" anchor="b"/>
          <a:lstStyle>
            <a:lvl1pPr algn="r">
              <a:defRPr sz="1200"/>
            </a:lvl1pPr>
          </a:lstStyle>
          <a:p>
            <a:fld id="{0878DA2E-347B-46BB-8DBC-F2AFC9533DFB}" type="slidenum">
              <a:rPr lang="pt-BR" smtClean="0"/>
              <a:t>‹nº›</a:t>
            </a:fld>
            <a:endParaRPr lang="pt-BR"/>
          </a:p>
        </p:txBody>
      </p:sp>
    </p:spTree>
    <p:extLst>
      <p:ext uri="{BB962C8B-B14F-4D97-AF65-F5344CB8AC3E}">
        <p14:creationId xmlns:p14="http://schemas.microsoft.com/office/powerpoint/2010/main" val="311955194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749550" y="533400"/>
            <a:ext cx="4735513" cy="26638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23462" y="3374431"/>
            <a:ext cx="8187690" cy="3196828"/>
          </a:xfrm>
          <a:prstGeom prst="rect">
            <a:avLst/>
          </a:prstGeom>
          <a:noFill/>
          <a:ln>
            <a:noFill/>
          </a:ln>
        </p:spPr>
        <p:txBody>
          <a:bodyPr spcFirstLastPara="1" wrap="square" lIns="94765" tIns="94765" rIns="94765" bIns="9476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hf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35f391192_00:notes"/>
          <p:cNvSpPr>
            <a:spLocks noGrp="1" noRot="1" noChangeAspect="1"/>
          </p:cNvSpPr>
          <p:nvPr>
            <p:ph type="sldImg" idx="2"/>
          </p:nvPr>
        </p:nvSpPr>
        <p:spPr>
          <a:xfrm>
            <a:off x="2749550" y="533400"/>
            <a:ext cx="4735513" cy="26638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35f391192_00:notes"/>
          <p:cNvSpPr txBox="1">
            <a:spLocks noGrp="1"/>
          </p:cNvSpPr>
          <p:nvPr>
            <p:ph type="body" idx="1"/>
          </p:nvPr>
        </p:nvSpPr>
        <p:spPr>
          <a:xfrm>
            <a:off x="1023462" y="3374431"/>
            <a:ext cx="8187690" cy="3196828"/>
          </a:xfrm>
          <a:prstGeom prst="rect">
            <a:avLst/>
          </a:prstGeom>
        </p:spPr>
        <p:txBody>
          <a:bodyPr spcFirstLastPara="1" wrap="square" lIns="94765" tIns="94765" rIns="94765" bIns="94765"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a:extLst>
              <a:ext uri="{FF2B5EF4-FFF2-40B4-BE49-F238E27FC236}">
                <a16:creationId xmlns:a16="http://schemas.microsoft.com/office/drawing/2014/main" id="{8B859196-7097-4B81-9F07-CE2A16BE5D6D}"/>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622DE7CD-C43C-46C1-8045-76700F97E7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734B5-08A2-461B-ED36-70A1DCED83E6}"/>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50275D1-4195-E6ED-70EC-D85A7BF7B37A}"/>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20D098D5-53B0-830F-10A6-E9C48EB347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91703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AC99F-C3C5-7601-D7F3-9792F46B717B}"/>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31455E66-E1AA-63E7-0C9F-F5340C7AA277}"/>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DE88D3FC-8F16-17B5-CB71-193EDAABF5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66499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DBEEB-445F-1E24-B7E2-AC9A1F070F0F}"/>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9E04E5F3-59C4-C4CC-B281-008FCEA05EF3}"/>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31ADAE56-2618-63A8-86B4-08A5B7A070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1279149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23764-CBCB-2305-F1B6-D2EC9CE7639C}"/>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BBDC5514-C4E2-0EDE-B48E-84CCDCA38E5A}"/>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AEC418BD-D673-5CC7-35D0-CF2BDAE6D1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128466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93D8A-8BBC-B763-F4E9-44CDE1BB5741}"/>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EA9A47FE-012A-3FED-EA6C-0D58959167FA}"/>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3BBE725F-FAF8-C3A7-86D6-D12F677400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80296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EEE50-EF55-9A76-EF10-BD7DADFC6FBC}"/>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FB6352E3-4EBA-9B5A-61A4-FC73B86B4E12}"/>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77D0983B-C9A0-D4A8-8C01-DBCCE9E498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299275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E8DA1-9D9F-2C70-EAED-F0C9159FF2E8}"/>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B9A995B2-7182-8EDD-F20D-36A3A37E22EE}"/>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BDFFFECF-4735-69C6-8D90-3946A2101D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652804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7D965-5DD8-9A4F-C5AE-1D4FCD64B97A}"/>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D1BFC832-F71D-3F68-5DBE-1CF5FF77B542}"/>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265A7F51-8B92-A2B6-B362-5ADB46FE97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4143009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36F9E-88CE-71AF-4B06-77424F102199}"/>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0E596D65-C9DD-36E1-DA7F-CF5D3279BFD2}"/>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E5E62FBE-E91F-4216-A906-95F6418A41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105630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213AD-420B-D3E9-A2B1-8A7BE021688C}"/>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B7D55537-2297-0DF4-0D7D-661DE9B4C35A}"/>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4EC57C85-F62E-5B44-2759-87D48D0FAE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1250679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D7FDF-9C29-207C-6A0E-7F107690AF09}"/>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9529A40F-4BBE-A735-2083-99580FD2EA58}"/>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36F1BCD2-9FB9-87BC-D14C-C294F06081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925746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D5FB9-508F-CC98-ED36-76839811CBBF}"/>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8F21C7D2-EEA2-51F5-56DE-3424657BCCD6}"/>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A89912F5-756B-7032-32CA-AB34D531F8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1081648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52A86-3E0D-C87B-0220-CA412189CB94}"/>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25B90D27-F224-467F-EABF-F8823729DED8}"/>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42068C78-4361-1B26-8D41-9A1735720D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7922484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5AD92-4460-6919-A08E-32F45E063E3B}"/>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A884CAD5-7BC6-15E7-EE9D-D9D5085C9D5C}"/>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18575D4B-1A53-6765-81BE-595D1AC00F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42871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CE042-05F3-6485-262C-F436E5E7B336}"/>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2820BA17-DEDD-8E76-8782-79AA85549906}"/>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F73FAE5F-E28F-ABC8-28F2-9D24748DAE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7109320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2CA39-E5FC-7929-5D59-C2F8A4E7EE2B}"/>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AE7ACC40-30C5-C023-CAFD-E869BBCF5A5D}"/>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F21016F6-6D6F-78BD-CF9D-9789FACBC0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0334219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EFB27-491F-4107-E497-12820198CD2D}"/>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3A3215C8-626E-DCBB-2076-72D23A158BDA}"/>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A9BB7753-03DF-324D-B908-378F84C4D3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15518415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791FA-97B6-C55F-34EB-2AAC39B3788D}"/>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5C8EBA9A-C453-C809-8328-24A50D2F560C}"/>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052B6409-F963-4450-275E-C5420205CC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284559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775A7-F3A1-0F6D-14CF-48D7BA47026B}"/>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72CB1A60-C5BC-0A7A-31B1-584487959F5A}"/>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60E6B8BA-BAE5-F242-3303-65E901130D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7421969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CDD48-6A0B-17DC-BD94-DEA7B55A4F10}"/>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B87C701C-DD9E-10C0-0017-4DF35822C240}"/>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91021D6C-92D5-069B-12CF-CE516EE797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18529645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A3E76-D6F4-182C-BC86-189D6AE87A0A}"/>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308F2623-14E5-3482-7936-EA59F147720F}"/>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CE6FDEBD-39AF-599D-6FA1-5FB2FA54F5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340376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516A7-BB3C-BBA6-C4A7-C3B7C976B619}"/>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2CB933F8-DF37-DF83-6D8F-6CCC67834ACB}"/>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7C933955-8957-36C3-0067-D813C7B8F5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21160316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D76E2-AEF6-4802-63B5-FB51E16D6020}"/>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CFB49864-DDF4-83D6-4D6B-BC3DB8EC1588}"/>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C8CF602A-140D-60FF-698C-DEDEFC5599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17441631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207C6-E662-2FA7-3FC8-488A02F38D3A}"/>
            </a:ext>
          </a:extLst>
        </p:cNvPr>
        <p:cNvGrpSpPr/>
        <p:nvPr/>
      </p:nvGrpSpPr>
      <p:grpSpPr>
        <a:xfrm>
          <a:off x="0" y="0"/>
          <a:ext cx="0" cy="0"/>
          <a:chOff x="0" y="0"/>
          <a:chExt cx="0" cy="0"/>
        </a:xfrm>
      </p:grpSpPr>
      <p:sp>
        <p:nvSpPr>
          <p:cNvPr id="124931" name="Rectangle 2">
            <a:extLst>
              <a:ext uri="{FF2B5EF4-FFF2-40B4-BE49-F238E27FC236}">
                <a16:creationId xmlns:a16="http://schemas.microsoft.com/office/drawing/2014/main" id="{E7BBF263-EB36-460E-1B0F-96192E8F7408}"/>
              </a:ext>
            </a:extLst>
          </p:cNvPr>
          <p:cNvSpPr>
            <a:spLocks noGrp="1" noRot="1" noChangeAspect="1" noChangeArrowheads="1" noTextEdit="1"/>
          </p:cNvSpPr>
          <p:nvPr>
            <p:ph type="sldImg"/>
          </p:nvPr>
        </p:nvSpPr>
        <p:spPr>
          <a:xfrm>
            <a:off x="141288" y="768350"/>
            <a:ext cx="6821487" cy="3836988"/>
          </a:xfrm>
          <a:ln/>
        </p:spPr>
      </p:sp>
      <p:sp>
        <p:nvSpPr>
          <p:cNvPr id="124932" name="Rectangle 3">
            <a:extLst>
              <a:ext uri="{FF2B5EF4-FFF2-40B4-BE49-F238E27FC236}">
                <a16:creationId xmlns:a16="http://schemas.microsoft.com/office/drawing/2014/main" id="{E8A6EC5C-6FF3-821C-1881-4424F13BCB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pt-BR">
              <a:latin typeface="Arial" panose="020B0604020202020204" pitchFamily="34" charset="0"/>
            </a:endParaRPr>
          </a:p>
        </p:txBody>
      </p:sp>
    </p:spTree>
    <p:extLst>
      <p:ext uri="{BB962C8B-B14F-4D97-AF65-F5344CB8AC3E}">
        <p14:creationId xmlns:p14="http://schemas.microsoft.com/office/powerpoint/2010/main" val="3338709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719693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801214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646240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967432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20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a:p>
        </p:txBody>
      </p:sp>
    </p:spTree>
    <p:extLst>
      <p:ext uri="{BB962C8B-B14F-4D97-AF65-F5344CB8AC3E}">
        <p14:creationId xmlns:p14="http://schemas.microsoft.com/office/powerpoint/2010/main" val="3931889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300157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21881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79441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319632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436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dirty="0"/>
          </a:p>
        </p:txBody>
      </p:sp>
    </p:spTree>
    <p:extLst>
      <p:ext uri="{BB962C8B-B14F-4D97-AF65-F5344CB8AC3E}">
        <p14:creationId xmlns:p14="http://schemas.microsoft.com/office/powerpoint/2010/main" val="1578214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03"/>
        <p:cNvGrpSpPr/>
        <p:nvPr/>
      </p:nvGrpSpPr>
      <p:grpSpPr>
        <a:xfrm>
          <a:off x="0" y="0"/>
          <a:ext cx="0" cy="0"/>
          <a:chOff x="0" y="0"/>
          <a:chExt cx="0" cy="0"/>
        </a:xfrm>
      </p:grpSpPr>
      <p:sp>
        <p:nvSpPr>
          <p:cNvPr id="341" name="Google Shape;341;p7"/>
          <p:cNvSpPr txBox="1">
            <a:spLocks noGrp="1"/>
          </p:cNvSpPr>
          <p:nvPr>
            <p:ph type="title"/>
          </p:nvPr>
        </p:nvSpPr>
        <p:spPr>
          <a:xfrm>
            <a:off x="1320025" y="866525"/>
            <a:ext cx="6455700" cy="668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342" name="Google Shape;342;p7"/>
          <p:cNvSpPr txBox="1">
            <a:spLocks noGrp="1"/>
          </p:cNvSpPr>
          <p:nvPr>
            <p:ph type="body" idx="1"/>
          </p:nvPr>
        </p:nvSpPr>
        <p:spPr>
          <a:xfrm>
            <a:off x="1320025"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3" name="Google Shape;343;p7"/>
          <p:cNvSpPr txBox="1">
            <a:spLocks noGrp="1"/>
          </p:cNvSpPr>
          <p:nvPr>
            <p:ph type="body" idx="2"/>
          </p:nvPr>
        </p:nvSpPr>
        <p:spPr>
          <a:xfrm>
            <a:off x="4642177"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4" name="Google Shape;344;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extLst>
      <p:ext uri="{BB962C8B-B14F-4D97-AF65-F5344CB8AC3E}">
        <p14:creationId xmlns:p14="http://schemas.microsoft.com/office/powerpoint/2010/main" val="34413726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32168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10038" y="651273"/>
            <a:ext cx="7886700" cy="2139553"/>
          </a:xfrm>
        </p:spPr>
        <p:txBody>
          <a:bodyPr anchor="b"/>
          <a:lstStyle>
            <a:lvl1pPr>
              <a:defRPr sz="4500"/>
            </a:lvl1pPr>
          </a:lstStyle>
          <a:p>
            <a:r>
              <a:rPr lang="pt-BR"/>
              <a:t>Clique para editar o título mestre</a:t>
            </a:r>
          </a:p>
        </p:txBody>
      </p:sp>
      <p:sp>
        <p:nvSpPr>
          <p:cNvPr id="3" name="Espaço Reservado para Texto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Clique para editar o texto mestre</a:t>
            </a:r>
          </a:p>
        </p:txBody>
      </p:sp>
    </p:spTree>
    <p:extLst>
      <p:ext uri="{BB962C8B-B14F-4D97-AF65-F5344CB8AC3E}">
        <p14:creationId xmlns:p14="http://schemas.microsoft.com/office/powerpoint/2010/main" val="2725572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Slide de Título">
    <p:bg>
      <p:bgPr>
        <a:noFill/>
        <a:effectLst/>
      </p:bgPr>
    </p:bg>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143000" y="2701926"/>
            <a:ext cx="6858000" cy="1241425"/>
          </a:xfrm>
          <a:prstGeom prst="rect">
            <a:avLst/>
          </a:prstGeom>
        </p:spPr>
        <p:txBody>
          <a:bodyPr/>
          <a:lstStyle>
            <a:lvl1pPr marL="0" indent="0" algn="ctr">
              <a:buNone/>
              <a:defRPr sz="2400"/>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pt-BR"/>
              <a:t>Clique para editar o estilo do subtítulo Mestre</a:t>
            </a:r>
          </a:p>
        </p:txBody>
      </p:sp>
    </p:spTree>
    <p:extLst>
      <p:ext uri="{BB962C8B-B14F-4D97-AF65-F5344CB8AC3E}">
        <p14:creationId xmlns:p14="http://schemas.microsoft.com/office/powerpoint/2010/main" val="24522761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970766" y="112735"/>
            <a:ext cx="7697245" cy="569934"/>
          </a:xfrm>
          <a:prstGeom prst="rect">
            <a:avLst/>
          </a:prstGeom>
        </p:spPr>
        <p:txBody>
          <a:bodyPr/>
          <a:lstStyle/>
          <a:p>
            <a:r>
              <a:rPr lang="pt-BR"/>
              <a:t>Clique para editar o título Mestre</a:t>
            </a:r>
          </a:p>
        </p:txBody>
      </p:sp>
      <p:sp>
        <p:nvSpPr>
          <p:cNvPr id="3" name="Espaço Reservado para Conteúdo 2"/>
          <p:cNvSpPr>
            <a:spLocks noGrp="1"/>
          </p:cNvSpPr>
          <p:nvPr>
            <p:ph idx="1" hasCustomPrompt="1"/>
          </p:nvPr>
        </p:nvSpPr>
        <p:spPr>
          <a:xfrm>
            <a:off x="488515" y="908137"/>
            <a:ext cx="8179496" cy="372418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cxnSp>
        <p:nvCxnSpPr>
          <p:cNvPr id="5" name="Conector Reto 2">
            <a:extLst>
              <a:ext uri="{FF2B5EF4-FFF2-40B4-BE49-F238E27FC236}">
                <a16:creationId xmlns:a16="http://schemas.microsoft.com/office/drawing/2014/main" id="{A54C1E0A-58EA-4ED6-87A5-BCBEB0312BF3}"/>
              </a:ext>
            </a:extLst>
          </p:cNvPr>
          <p:cNvCxnSpPr/>
          <p:nvPr userDrawn="1"/>
        </p:nvCxnSpPr>
        <p:spPr>
          <a:xfrm>
            <a:off x="965593"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28641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uas Partes de Conteúdo">
    <p:spTree>
      <p:nvGrpSpPr>
        <p:cNvPr id="1" name=""/>
        <p:cNvGrpSpPr/>
        <p:nvPr/>
      </p:nvGrpSpPr>
      <p:grpSpPr>
        <a:xfrm>
          <a:off x="0" y="0"/>
          <a:ext cx="0" cy="0"/>
          <a:chOff x="0" y="0"/>
          <a:chExt cx="0" cy="0"/>
        </a:xfrm>
      </p:grpSpPr>
      <p:sp>
        <p:nvSpPr>
          <p:cNvPr id="3" name="Espaço Reservado para Conteúdo 2"/>
          <p:cNvSpPr>
            <a:spLocks noGrp="1"/>
          </p:cNvSpPr>
          <p:nvPr>
            <p:ph sz="half" idx="1" hasCustomPrompt="1"/>
          </p:nvPr>
        </p:nvSpPr>
        <p:spPr>
          <a:xfrm>
            <a:off x="628650" y="883086"/>
            <a:ext cx="3867150" cy="3749240"/>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hasCustomPrompt="1"/>
          </p:nvPr>
        </p:nvSpPr>
        <p:spPr>
          <a:xfrm>
            <a:off x="4648200" y="883086"/>
            <a:ext cx="3867150" cy="3749240"/>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8" name="Título 1">
            <a:extLst>
              <a:ext uri="{FF2B5EF4-FFF2-40B4-BE49-F238E27FC236}">
                <a16:creationId xmlns:a16="http://schemas.microsoft.com/office/drawing/2014/main" id="{78EE3940-AE51-425E-A374-7F269534C5F2}"/>
              </a:ext>
            </a:extLst>
          </p:cNvPr>
          <p:cNvSpPr>
            <a:spLocks noGrp="1"/>
          </p:cNvSpPr>
          <p:nvPr>
            <p:ph type="title" hasCustomPrompt="1"/>
          </p:nvPr>
        </p:nvSpPr>
        <p:spPr>
          <a:xfrm>
            <a:off x="970766" y="112735"/>
            <a:ext cx="7697245" cy="569934"/>
          </a:xfrm>
          <a:prstGeom prst="rect">
            <a:avLst/>
          </a:prstGeom>
        </p:spPr>
        <p:txBody>
          <a:bodyPr/>
          <a:lstStyle/>
          <a:p>
            <a:r>
              <a:rPr lang="pt-BR"/>
              <a:t>Clique para editar o título Mestre</a:t>
            </a:r>
          </a:p>
        </p:txBody>
      </p:sp>
      <p:cxnSp>
        <p:nvCxnSpPr>
          <p:cNvPr id="10" name="Conector Reto 2">
            <a:extLst>
              <a:ext uri="{FF2B5EF4-FFF2-40B4-BE49-F238E27FC236}">
                <a16:creationId xmlns:a16="http://schemas.microsoft.com/office/drawing/2014/main" id="{FBA56684-365A-4994-98AE-18C21E9D6797}"/>
              </a:ext>
            </a:extLst>
          </p:cNvPr>
          <p:cNvCxnSpPr/>
          <p:nvPr userDrawn="1"/>
        </p:nvCxnSpPr>
        <p:spPr>
          <a:xfrm>
            <a:off x="965593"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241057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cxnSp>
        <p:nvCxnSpPr>
          <p:cNvPr id="8" name="Conector Reto 2">
            <a:extLst>
              <a:ext uri="{FF2B5EF4-FFF2-40B4-BE49-F238E27FC236}">
                <a16:creationId xmlns:a16="http://schemas.microsoft.com/office/drawing/2014/main" id="{FBCBEC26-2ADD-479F-A36A-293A1DFB0514}"/>
              </a:ext>
            </a:extLst>
          </p:cNvPr>
          <p:cNvCxnSpPr/>
          <p:nvPr userDrawn="1"/>
        </p:nvCxnSpPr>
        <p:spPr>
          <a:xfrm>
            <a:off x="965593"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06425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63296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type="title" preserve="1">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a:p>
        </p:txBody>
      </p:sp>
    </p:spTree>
    <p:extLst>
      <p:ext uri="{BB962C8B-B14F-4D97-AF65-F5344CB8AC3E}">
        <p14:creationId xmlns:p14="http://schemas.microsoft.com/office/powerpoint/2010/main" val="3252509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71070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Slide de Título">
    <p:bg>
      <p:bgPr>
        <a:noFill/>
        <a:effectLst/>
      </p:bgPr>
    </p:bg>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143000" y="2701926"/>
            <a:ext cx="6858000" cy="1241425"/>
          </a:xfrm>
          <a:prstGeom prst="rect">
            <a:avLst/>
          </a:prstGeom>
        </p:spPr>
        <p:txBody>
          <a:bodyPr/>
          <a:lstStyle>
            <a:lvl1pPr marL="0" indent="0" algn="ctr">
              <a:buNone/>
              <a:defRPr sz="2400"/>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pt-BR"/>
              <a:t>Clique para editar o estilo do subtítulo Mestre</a:t>
            </a:r>
          </a:p>
        </p:txBody>
      </p:sp>
    </p:spTree>
    <p:extLst>
      <p:ext uri="{BB962C8B-B14F-4D97-AF65-F5344CB8AC3E}">
        <p14:creationId xmlns:p14="http://schemas.microsoft.com/office/powerpoint/2010/main" val="5767676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970766" y="112735"/>
            <a:ext cx="7697245" cy="569934"/>
          </a:xfrm>
          <a:prstGeom prst="rect">
            <a:avLst/>
          </a:prstGeom>
        </p:spPr>
        <p:txBody>
          <a:bodyPr/>
          <a:lstStyle/>
          <a:p>
            <a:r>
              <a:rPr lang="pt-BR"/>
              <a:t>Clique para editar o título Mestre</a:t>
            </a:r>
          </a:p>
        </p:txBody>
      </p:sp>
      <p:sp>
        <p:nvSpPr>
          <p:cNvPr id="3" name="Espaço Reservado para Conteúdo 2"/>
          <p:cNvSpPr>
            <a:spLocks noGrp="1"/>
          </p:cNvSpPr>
          <p:nvPr>
            <p:ph idx="1" hasCustomPrompt="1"/>
          </p:nvPr>
        </p:nvSpPr>
        <p:spPr>
          <a:xfrm>
            <a:off x="488515" y="908137"/>
            <a:ext cx="8179496" cy="372418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cxnSp>
        <p:nvCxnSpPr>
          <p:cNvPr id="5" name="Conector Reto 2">
            <a:extLst>
              <a:ext uri="{FF2B5EF4-FFF2-40B4-BE49-F238E27FC236}">
                <a16:creationId xmlns:a16="http://schemas.microsoft.com/office/drawing/2014/main" id="{A54C1E0A-58EA-4ED6-87A5-BCBEB0312BF3}"/>
              </a:ext>
            </a:extLst>
          </p:cNvPr>
          <p:cNvCxnSpPr/>
          <p:nvPr userDrawn="1"/>
        </p:nvCxnSpPr>
        <p:spPr>
          <a:xfrm>
            <a:off x="965593"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551393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uas Partes de Conteúdo">
    <p:spTree>
      <p:nvGrpSpPr>
        <p:cNvPr id="1" name=""/>
        <p:cNvGrpSpPr/>
        <p:nvPr/>
      </p:nvGrpSpPr>
      <p:grpSpPr>
        <a:xfrm>
          <a:off x="0" y="0"/>
          <a:ext cx="0" cy="0"/>
          <a:chOff x="0" y="0"/>
          <a:chExt cx="0" cy="0"/>
        </a:xfrm>
      </p:grpSpPr>
      <p:sp>
        <p:nvSpPr>
          <p:cNvPr id="3" name="Espaço Reservado para Conteúdo 2"/>
          <p:cNvSpPr>
            <a:spLocks noGrp="1"/>
          </p:cNvSpPr>
          <p:nvPr>
            <p:ph sz="half" idx="1" hasCustomPrompt="1"/>
          </p:nvPr>
        </p:nvSpPr>
        <p:spPr>
          <a:xfrm>
            <a:off x="628650" y="883086"/>
            <a:ext cx="3867150" cy="3749240"/>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hasCustomPrompt="1"/>
          </p:nvPr>
        </p:nvSpPr>
        <p:spPr>
          <a:xfrm>
            <a:off x="4648200" y="883086"/>
            <a:ext cx="3867150" cy="3749240"/>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8" name="Título 1">
            <a:extLst>
              <a:ext uri="{FF2B5EF4-FFF2-40B4-BE49-F238E27FC236}">
                <a16:creationId xmlns:a16="http://schemas.microsoft.com/office/drawing/2014/main" id="{78EE3940-AE51-425E-A374-7F269534C5F2}"/>
              </a:ext>
            </a:extLst>
          </p:cNvPr>
          <p:cNvSpPr>
            <a:spLocks noGrp="1"/>
          </p:cNvSpPr>
          <p:nvPr>
            <p:ph type="title" hasCustomPrompt="1"/>
          </p:nvPr>
        </p:nvSpPr>
        <p:spPr>
          <a:xfrm>
            <a:off x="970766" y="112735"/>
            <a:ext cx="7697245" cy="569934"/>
          </a:xfrm>
          <a:prstGeom prst="rect">
            <a:avLst/>
          </a:prstGeom>
        </p:spPr>
        <p:txBody>
          <a:bodyPr/>
          <a:lstStyle/>
          <a:p>
            <a:r>
              <a:rPr lang="pt-BR"/>
              <a:t>Clique para editar o título Mestre</a:t>
            </a:r>
          </a:p>
        </p:txBody>
      </p:sp>
      <p:cxnSp>
        <p:nvCxnSpPr>
          <p:cNvPr id="10" name="Conector Reto 2">
            <a:extLst>
              <a:ext uri="{FF2B5EF4-FFF2-40B4-BE49-F238E27FC236}">
                <a16:creationId xmlns:a16="http://schemas.microsoft.com/office/drawing/2014/main" id="{FBA56684-365A-4994-98AE-18C21E9D6797}"/>
              </a:ext>
            </a:extLst>
          </p:cNvPr>
          <p:cNvCxnSpPr/>
          <p:nvPr userDrawn="1"/>
        </p:nvCxnSpPr>
        <p:spPr>
          <a:xfrm>
            <a:off x="965593"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053955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cxnSp>
        <p:nvCxnSpPr>
          <p:cNvPr id="8" name="Conector Reto 2">
            <a:extLst>
              <a:ext uri="{FF2B5EF4-FFF2-40B4-BE49-F238E27FC236}">
                <a16:creationId xmlns:a16="http://schemas.microsoft.com/office/drawing/2014/main" id="{FBCBEC26-2ADD-479F-A36A-293A1DFB0514}"/>
              </a:ext>
            </a:extLst>
          </p:cNvPr>
          <p:cNvCxnSpPr/>
          <p:nvPr userDrawn="1"/>
        </p:nvCxnSpPr>
        <p:spPr>
          <a:xfrm>
            <a:off x="965593"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648836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18348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type="title" preserve="1">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a:p>
        </p:txBody>
      </p:sp>
    </p:spTree>
    <p:extLst>
      <p:ext uri="{BB962C8B-B14F-4D97-AF65-F5344CB8AC3E}">
        <p14:creationId xmlns:p14="http://schemas.microsoft.com/office/powerpoint/2010/main" val="31184446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6790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6"/>
            <a:ext cx="6858000" cy="1241425"/>
          </a:xfrm>
          <a:prstGeom prst="rect">
            <a:avLst/>
          </a:prstGeom>
        </p:spPr>
        <p:txBody>
          <a:bodyPr/>
          <a:lstStyle>
            <a:lvl1pPr marL="0" indent="0" algn="ctr">
              <a:buNone/>
              <a:defRPr sz="2400"/>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4"/>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4"/>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4"/>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4065440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9"/>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4"/>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4"/>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4"/>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5152879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9"/>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4"/>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4"/>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4"/>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2260956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9"/>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4"/>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4"/>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4"/>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178184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43475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03"/>
        <p:cNvGrpSpPr/>
        <p:nvPr/>
      </p:nvGrpSpPr>
      <p:grpSpPr>
        <a:xfrm>
          <a:off x="0" y="0"/>
          <a:ext cx="0" cy="0"/>
          <a:chOff x="0" y="0"/>
          <a:chExt cx="0" cy="0"/>
        </a:xfrm>
      </p:grpSpPr>
      <p:sp>
        <p:nvSpPr>
          <p:cNvPr id="341" name="Google Shape;341;p7"/>
          <p:cNvSpPr txBox="1">
            <a:spLocks noGrp="1"/>
          </p:cNvSpPr>
          <p:nvPr>
            <p:ph type="title"/>
          </p:nvPr>
        </p:nvSpPr>
        <p:spPr>
          <a:xfrm>
            <a:off x="1320025" y="866525"/>
            <a:ext cx="6455700" cy="668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342" name="Google Shape;342;p7"/>
          <p:cNvSpPr txBox="1">
            <a:spLocks noGrp="1"/>
          </p:cNvSpPr>
          <p:nvPr>
            <p:ph type="body" idx="1"/>
          </p:nvPr>
        </p:nvSpPr>
        <p:spPr>
          <a:xfrm>
            <a:off x="1320025" y="1582625"/>
            <a:ext cx="3133500" cy="2955300"/>
          </a:xfrm>
          <a:prstGeom prst="rect">
            <a:avLst/>
          </a:prstGeom>
        </p:spPr>
        <p:txBody>
          <a:bodyPr spcFirstLastPara="1" wrap="square" lIns="91425" tIns="91425" rIns="91425" bIns="91425" anchor="t" anchorCtr="0">
            <a:noAutofit/>
          </a:bodyPr>
          <a:lstStyle>
            <a:lvl1pPr marL="457189" lvl="0" indent="-342892">
              <a:spcBef>
                <a:spcPts val="600"/>
              </a:spcBef>
              <a:spcAft>
                <a:spcPts val="0"/>
              </a:spcAft>
              <a:buSzPts val="1800"/>
              <a:buChar char="◂"/>
              <a:defRPr sz="1800"/>
            </a:lvl1pPr>
            <a:lvl2pPr marL="914378" lvl="1" indent="-342892">
              <a:spcBef>
                <a:spcPts val="0"/>
              </a:spcBef>
              <a:spcAft>
                <a:spcPts val="0"/>
              </a:spcAft>
              <a:buSzPts val="1800"/>
              <a:buChar char="◂"/>
              <a:defRPr sz="1800"/>
            </a:lvl2pPr>
            <a:lvl3pPr marL="1371566" lvl="2" indent="-342892">
              <a:spcBef>
                <a:spcPts val="0"/>
              </a:spcBef>
              <a:spcAft>
                <a:spcPts val="0"/>
              </a:spcAft>
              <a:buSzPts val="1800"/>
              <a:buChar char="◂"/>
              <a:defRPr sz="1800"/>
            </a:lvl3pPr>
            <a:lvl4pPr marL="1828754" lvl="3" indent="-342892">
              <a:spcBef>
                <a:spcPts val="0"/>
              </a:spcBef>
              <a:spcAft>
                <a:spcPts val="0"/>
              </a:spcAft>
              <a:buSzPts val="1800"/>
              <a:buChar char="◂"/>
              <a:defRPr sz="1800"/>
            </a:lvl4pPr>
            <a:lvl5pPr marL="2285943" lvl="4" indent="-342892">
              <a:spcBef>
                <a:spcPts val="0"/>
              </a:spcBef>
              <a:spcAft>
                <a:spcPts val="0"/>
              </a:spcAft>
              <a:buSzPts val="1800"/>
              <a:buChar char="○"/>
              <a:defRPr sz="1800"/>
            </a:lvl5pPr>
            <a:lvl6pPr marL="2743132" lvl="5" indent="-342892">
              <a:spcBef>
                <a:spcPts val="0"/>
              </a:spcBef>
              <a:spcAft>
                <a:spcPts val="0"/>
              </a:spcAft>
              <a:buSzPts val="1800"/>
              <a:buChar char="■"/>
              <a:defRPr sz="1800"/>
            </a:lvl6pPr>
            <a:lvl7pPr marL="3200320" lvl="6" indent="-342892">
              <a:spcBef>
                <a:spcPts val="0"/>
              </a:spcBef>
              <a:spcAft>
                <a:spcPts val="0"/>
              </a:spcAft>
              <a:buSzPts val="1800"/>
              <a:buChar char="●"/>
              <a:defRPr sz="1800"/>
            </a:lvl7pPr>
            <a:lvl8pPr marL="3657509" lvl="7" indent="-342892">
              <a:spcBef>
                <a:spcPts val="0"/>
              </a:spcBef>
              <a:spcAft>
                <a:spcPts val="0"/>
              </a:spcAft>
              <a:buSzPts val="1800"/>
              <a:buChar char="○"/>
              <a:defRPr sz="1800"/>
            </a:lvl8pPr>
            <a:lvl9pPr marL="4114697" lvl="8" indent="-342892">
              <a:spcBef>
                <a:spcPts val="0"/>
              </a:spcBef>
              <a:spcAft>
                <a:spcPts val="0"/>
              </a:spcAft>
              <a:buSzPts val="1800"/>
              <a:buChar char="■"/>
              <a:defRPr sz="1800"/>
            </a:lvl9pPr>
          </a:lstStyle>
          <a:p>
            <a:endParaRPr/>
          </a:p>
        </p:txBody>
      </p:sp>
      <p:sp>
        <p:nvSpPr>
          <p:cNvPr id="343" name="Google Shape;343;p7"/>
          <p:cNvSpPr txBox="1">
            <a:spLocks noGrp="1"/>
          </p:cNvSpPr>
          <p:nvPr>
            <p:ph type="body" idx="2"/>
          </p:nvPr>
        </p:nvSpPr>
        <p:spPr>
          <a:xfrm>
            <a:off x="4642177" y="1582625"/>
            <a:ext cx="3133500" cy="2955300"/>
          </a:xfrm>
          <a:prstGeom prst="rect">
            <a:avLst/>
          </a:prstGeom>
        </p:spPr>
        <p:txBody>
          <a:bodyPr spcFirstLastPara="1" wrap="square" lIns="91425" tIns="91425" rIns="91425" bIns="91425" anchor="t" anchorCtr="0">
            <a:noAutofit/>
          </a:bodyPr>
          <a:lstStyle>
            <a:lvl1pPr marL="457189" lvl="0" indent="-342892">
              <a:spcBef>
                <a:spcPts val="600"/>
              </a:spcBef>
              <a:spcAft>
                <a:spcPts val="0"/>
              </a:spcAft>
              <a:buSzPts val="1800"/>
              <a:buChar char="◂"/>
              <a:defRPr sz="1800"/>
            </a:lvl1pPr>
            <a:lvl2pPr marL="914378" lvl="1" indent="-342892">
              <a:spcBef>
                <a:spcPts val="0"/>
              </a:spcBef>
              <a:spcAft>
                <a:spcPts val="0"/>
              </a:spcAft>
              <a:buSzPts val="1800"/>
              <a:buChar char="◂"/>
              <a:defRPr sz="1800"/>
            </a:lvl2pPr>
            <a:lvl3pPr marL="1371566" lvl="2" indent="-342892">
              <a:spcBef>
                <a:spcPts val="0"/>
              </a:spcBef>
              <a:spcAft>
                <a:spcPts val="0"/>
              </a:spcAft>
              <a:buSzPts val="1800"/>
              <a:buChar char="◂"/>
              <a:defRPr sz="1800"/>
            </a:lvl3pPr>
            <a:lvl4pPr marL="1828754" lvl="3" indent="-342892">
              <a:spcBef>
                <a:spcPts val="0"/>
              </a:spcBef>
              <a:spcAft>
                <a:spcPts val="0"/>
              </a:spcAft>
              <a:buSzPts val="1800"/>
              <a:buChar char="◂"/>
              <a:defRPr sz="1800"/>
            </a:lvl4pPr>
            <a:lvl5pPr marL="2285943" lvl="4" indent="-342892">
              <a:spcBef>
                <a:spcPts val="0"/>
              </a:spcBef>
              <a:spcAft>
                <a:spcPts val="0"/>
              </a:spcAft>
              <a:buSzPts val="1800"/>
              <a:buChar char="○"/>
              <a:defRPr sz="1800"/>
            </a:lvl5pPr>
            <a:lvl6pPr marL="2743132" lvl="5" indent="-342892">
              <a:spcBef>
                <a:spcPts val="0"/>
              </a:spcBef>
              <a:spcAft>
                <a:spcPts val="0"/>
              </a:spcAft>
              <a:buSzPts val="1800"/>
              <a:buChar char="■"/>
              <a:defRPr sz="1800"/>
            </a:lvl6pPr>
            <a:lvl7pPr marL="3200320" lvl="6" indent="-342892">
              <a:spcBef>
                <a:spcPts val="0"/>
              </a:spcBef>
              <a:spcAft>
                <a:spcPts val="0"/>
              </a:spcAft>
              <a:buSzPts val="1800"/>
              <a:buChar char="●"/>
              <a:defRPr sz="1800"/>
            </a:lvl7pPr>
            <a:lvl8pPr marL="3657509" lvl="7" indent="-342892">
              <a:spcBef>
                <a:spcPts val="0"/>
              </a:spcBef>
              <a:spcAft>
                <a:spcPts val="0"/>
              </a:spcAft>
              <a:buSzPts val="1800"/>
              <a:buChar char="○"/>
              <a:defRPr sz="1800"/>
            </a:lvl8pPr>
            <a:lvl9pPr marL="4114697" lvl="8" indent="-342892">
              <a:spcBef>
                <a:spcPts val="0"/>
              </a:spcBef>
              <a:spcAft>
                <a:spcPts val="0"/>
              </a:spcAft>
              <a:buSzPts val="1800"/>
              <a:buChar char="■"/>
              <a:defRPr sz="1800"/>
            </a:lvl9pPr>
          </a:lstStyle>
          <a:p>
            <a:endParaRPr/>
          </a:p>
        </p:txBody>
      </p:sp>
      <p:sp>
        <p:nvSpPr>
          <p:cNvPr id="344" name="Google Shape;344;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pt-BR" smtClean="0"/>
              <a:pPr algn="r"/>
              <a:t>‹nº›</a:t>
            </a:fld>
            <a:endParaRPr lang="pt-BR"/>
          </a:p>
        </p:txBody>
      </p:sp>
    </p:spTree>
    <p:extLst>
      <p:ext uri="{BB962C8B-B14F-4D97-AF65-F5344CB8AC3E}">
        <p14:creationId xmlns:p14="http://schemas.microsoft.com/office/powerpoint/2010/main" val="14379790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8375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15100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10038" y="651274"/>
            <a:ext cx="7886700" cy="2139553"/>
          </a:xfrm>
        </p:spPr>
        <p:txBody>
          <a:bodyPr anchor="b"/>
          <a:lstStyle>
            <a:lvl1pPr>
              <a:defRPr sz="4500"/>
            </a:lvl1pPr>
          </a:lstStyle>
          <a:p>
            <a:r>
              <a:rPr lang="pt-BR"/>
              <a:t>Clique para editar o título mestre</a:t>
            </a:r>
          </a:p>
        </p:txBody>
      </p:sp>
      <p:sp>
        <p:nvSpPr>
          <p:cNvPr id="3" name="Espaço Reservado para Texto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pt-BR"/>
              <a:t>Clique para editar o texto mestre</a:t>
            </a:r>
          </a:p>
        </p:txBody>
      </p:sp>
    </p:spTree>
    <p:extLst>
      <p:ext uri="{BB962C8B-B14F-4D97-AF65-F5344CB8AC3E}">
        <p14:creationId xmlns:p14="http://schemas.microsoft.com/office/powerpoint/2010/main" val="38846619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Soment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46777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4036172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8683187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7604715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11964015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69430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a:p>
        </p:txBody>
      </p:sp>
    </p:spTree>
    <p:extLst>
      <p:ext uri="{BB962C8B-B14F-4D97-AF65-F5344CB8AC3E}">
        <p14:creationId xmlns:p14="http://schemas.microsoft.com/office/powerpoint/2010/main" val="728557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03"/>
        <p:cNvGrpSpPr/>
        <p:nvPr/>
      </p:nvGrpSpPr>
      <p:grpSpPr>
        <a:xfrm>
          <a:off x="0" y="0"/>
          <a:ext cx="0" cy="0"/>
          <a:chOff x="0" y="0"/>
          <a:chExt cx="0" cy="0"/>
        </a:xfrm>
      </p:grpSpPr>
      <p:sp>
        <p:nvSpPr>
          <p:cNvPr id="341" name="Google Shape;341;p7"/>
          <p:cNvSpPr txBox="1">
            <a:spLocks noGrp="1"/>
          </p:cNvSpPr>
          <p:nvPr>
            <p:ph type="title"/>
          </p:nvPr>
        </p:nvSpPr>
        <p:spPr>
          <a:xfrm>
            <a:off x="1320025" y="866525"/>
            <a:ext cx="6455700" cy="668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342" name="Google Shape;342;p7"/>
          <p:cNvSpPr txBox="1">
            <a:spLocks noGrp="1"/>
          </p:cNvSpPr>
          <p:nvPr>
            <p:ph type="body" idx="1"/>
          </p:nvPr>
        </p:nvSpPr>
        <p:spPr>
          <a:xfrm>
            <a:off x="1320025"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3" name="Google Shape;343;p7"/>
          <p:cNvSpPr txBox="1">
            <a:spLocks noGrp="1"/>
          </p:cNvSpPr>
          <p:nvPr>
            <p:ph type="body" idx="2"/>
          </p:nvPr>
        </p:nvSpPr>
        <p:spPr>
          <a:xfrm>
            <a:off x="4642177"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4" name="Google Shape;344;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extLst>
      <p:ext uri="{BB962C8B-B14F-4D97-AF65-F5344CB8AC3E}">
        <p14:creationId xmlns:p14="http://schemas.microsoft.com/office/powerpoint/2010/main" val="5682464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47540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65803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10038" y="651273"/>
            <a:ext cx="7886700" cy="2139553"/>
          </a:xfrm>
        </p:spPr>
        <p:txBody>
          <a:bodyPr anchor="b"/>
          <a:lstStyle>
            <a:lvl1pPr>
              <a:defRPr sz="4500"/>
            </a:lvl1pPr>
          </a:lstStyle>
          <a:p>
            <a:r>
              <a:rPr lang="pt-BR"/>
              <a:t>Clique para editar o título mestre</a:t>
            </a:r>
          </a:p>
        </p:txBody>
      </p:sp>
      <p:sp>
        <p:nvSpPr>
          <p:cNvPr id="3" name="Espaço Reservado para Texto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Clique para editar o texto mestre</a:t>
            </a:r>
          </a:p>
        </p:txBody>
      </p:sp>
    </p:spTree>
    <p:extLst>
      <p:ext uri="{BB962C8B-B14F-4D97-AF65-F5344CB8AC3E}">
        <p14:creationId xmlns:p14="http://schemas.microsoft.com/office/powerpoint/2010/main" val="32818034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40810145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26499471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40569807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9841104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84166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a:p>
        </p:txBody>
      </p:sp>
    </p:spTree>
    <p:extLst>
      <p:ext uri="{BB962C8B-B14F-4D97-AF65-F5344CB8AC3E}">
        <p14:creationId xmlns:p14="http://schemas.microsoft.com/office/powerpoint/2010/main" val="12307528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03"/>
        <p:cNvGrpSpPr/>
        <p:nvPr/>
      </p:nvGrpSpPr>
      <p:grpSpPr>
        <a:xfrm>
          <a:off x="0" y="0"/>
          <a:ext cx="0" cy="0"/>
          <a:chOff x="0" y="0"/>
          <a:chExt cx="0" cy="0"/>
        </a:xfrm>
      </p:grpSpPr>
      <p:sp>
        <p:nvSpPr>
          <p:cNvPr id="341" name="Google Shape;341;p7"/>
          <p:cNvSpPr txBox="1">
            <a:spLocks noGrp="1"/>
          </p:cNvSpPr>
          <p:nvPr>
            <p:ph type="title"/>
          </p:nvPr>
        </p:nvSpPr>
        <p:spPr>
          <a:xfrm>
            <a:off x="1320025" y="866525"/>
            <a:ext cx="6455700" cy="668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342" name="Google Shape;342;p7"/>
          <p:cNvSpPr txBox="1">
            <a:spLocks noGrp="1"/>
          </p:cNvSpPr>
          <p:nvPr>
            <p:ph type="body" idx="1"/>
          </p:nvPr>
        </p:nvSpPr>
        <p:spPr>
          <a:xfrm>
            <a:off x="1320025"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3" name="Google Shape;343;p7"/>
          <p:cNvSpPr txBox="1">
            <a:spLocks noGrp="1"/>
          </p:cNvSpPr>
          <p:nvPr>
            <p:ph type="body" idx="2"/>
          </p:nvPr>
        </p:nvSpPr>
        <p:spPr>
          <a:xfrm>
            <a:off x="4642177"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4" name="Google Shape;344;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extLst>
      <p:ext uri="{BB962C8B-B14F-4D97-AF65-F5344CB8AC3E}">
        <p14:creationId xmlns:p14="http://schemas.microsoft.com/office/powerpoint/2010/main" val="35339150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04583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10038" y="651273"/>
            <a:ext cx="7886700" cy="2139553"/>
          </a:xfrm>
        </p:spPr>
        <p:txBody>
          <a:bodyPr anchor="b"/>
          <a:lstStyle>
            <a:lvl1pPr>
              <a:defRPr sz="4500"/>
            </a:lvl1pPr>
          </a:lstStyle>
          <a:p>
            <a:r>
              <a:rPr lang="pt-BR"/>
              <a:t>Clique para editar o título mestre</a:t>
            </a:r>
          </a:p>
        </p:txBody>
      </p:sp>
      <p:sp>
        <p:nvSpPr>
          <p:cNvPr id="3" name="Espaço Reservado para Texto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Clique para editar o texto mestre</a:t>
            </a:r>
          </a:p>
        </p:txBody>
      </p:sp>
    </p:spTree>
    <p:extLst>
      <p:ext uri="{BB962C8B-B14F-4D97-AF65-F5344CB8AC3E}">
        <p14:creationId xmlns:p14="http://schemas.microsoft.com/office/powerpoint/2010/main" val="43305727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970A3-1965-40C7-8B88-CEA08CEC631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97073DA-BAB4-4407-82A3-8283D854C4D2}"/>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0EE596E1-E056-4BE4-9C2D-4064B8886672}"/>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0CCDD559-2037-4107-BDE7-64DDA7A4E7D7}"/>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3C842E7C-0068-4C68-993E-FC7F4BEFC318}"/>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7409886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A0EEB-4626-4348-8120-340180536375}"/>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8EF84E1-91B1-4064-8368-1284C4EBF183}"/>
              </a:ext>
            </a:extLst>
          </p:cNvPr>
          <p:cNvSpPr>
            <a:spLocks noGrp="1"/>
          </p:cNvSpPr>
          <p:nvPr>
            <p:ph idx="1"/>
          </p:nvPr>
        </p:nvSpPr>
        <p:spPr>
          <a:xfrm>
            <a:off x="628650" y="1370013"/>
            <a:ext cx="788670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FA6E08-5AFF-471B-AE89-83AC2B99C40A}"/>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5" name="Espaço Reservado para Rodapé 4">
            <a:extLst>
              <a:ext uri="{FF2B5EF4-FFF2-40B4-BE49-F238E27FC236}">
                <a16:creationId xmlns:a16="http://schemas.microsoft.com/office/drawing/2014/main" id="{41FD1392-862B-4647-ACD4-30F187E6A2BA}"/>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2D24D2D3-6A37-4410-9830-0803F90972E6}"/>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41530337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B459D-0B63-4DEE-9099-8F6DBCE55BA2}"/>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34B28A2-45DC-413D-9272-44158B4B5F6D}"/>
              </a:ext>
            </a:extLst>
          </p:cNvPr>
          <p:cNvSpPr>
            <a:spLocks noGrp="1"/>
          </p:cNvSpPr>
          <p:nvPr>
            <p:ph sz="half" idx="1"/>
          </p:nvPr>
        </p:nvSpPr>
        <p:spPr>
          <a:xfrm>
            <a:off x="62865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2C5933-B921-40F0-A2E3-63FF21A56552}"/>
              </a:ext>
            </a:extLst>
          </p:cNvPr>
          <p:cNvSpPr>
            <a:spLocks noGrp="1"/>
          </p:cNvSpPr>
          <p:nvPr>
            <p:ph sz="half" idx="2"/>
          </p:nvPr>
        </p:nvSpPr>
        <p:spPr>
          <a:xfrm>
            <a:off x="4648200" y="1370013"/>
            <a:ext cx="3867150" cy="3262312"/>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AD6CDCB1-1A19-462D-855A-3733CACF0125}"/>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6" name="Espaço Reservado para Rodapé 5">
            <a:extLst>
              <a:ext uri="{FF2B5EF4-FFF2-40B4-BE49-F238E27FC236}">
                <a16:creationId xmlns:a16="http://schemas.microsoft.com/office/drawing/2014/main" id="{1A99B034-54B6-4524-B724-B93A39CE5B79}"/>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0EC38795-7C4E-4BAC-BE5E-10FF519DC7EF}"/>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05877793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5D73F-79D4-4E78-B363-D0BB759D09EE}"/>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D711D9A9-EA49-4B93-805B-DE1DFB8E24B7}"/>
              </a:ext>
            </a:extLst>
          </p:cNvPr>
          <p:cNvSpPr>
            <a:spLocks noGrp="1"/>
          </p:cNvSpPr>
          <p:nvPr>
            <p:ph type="dt" sz="half" idx="10"/>
          </p:nvPr>
        </p:nvSpPr>
        <p:spPr>
          <a:xfrm>
            <a:off x="628650" y="4767263"/>
            <a:ext cx="2057400" cy="274637"/>
          </a:xfrm>
          <a:prstGeom prst="rect">
            <a:avLst/>
          </a:prstGeom>
        </p:spPr>
        <p:txBody>
          <a:bodyPr/>
          <a:lstStyle/>
          <a:p>
            <a:endParaRPr lang="pt-BR"/>
          </a:p>
        </p:txBody>
      </p:sp>
      <p:sp>
        <p:nvSpPr>
          <p:cNvPr id="4" name="Espaço Reservado para Rodapé 3">
            <a:extLst>
              <a:ext uri="{FF2B5EF4-FFF2-40B4-BE49-F238E27FC236}">
                <a16:creationId xmlns:a16="http://schemas.microsoft.com/office/drawing/2014/main" id="{0EC25406-6D5A-4EBE-8813-C182B959EB02}"/>
              </a:ext>
            </a:extLst>
          </p:cNvPr>
          <p:cNvSpPr>
            <a:spLocks noGrp="1"/>
          </p:cNvSpPr>
          <p:nvPr>
            <p:ph type="ftr" sz="quarter" idx="11"/>
          </p:nvPr>
        </p:nvSpPr>
        <p:spPr>
          <a:xfrm>
            <a:off x="3028950" y="4767263"/>
            <a:ext cx="3086100" cy="274637"/>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D39C440C-4283-4610-8299-4EA64A80B8E3}"/>
              </a:ext>
            </a:extLst>
          </p:cNvPr>
          <p:cNvSpPr>
            <a:spLocks noGrp="1"/>
          </p:cNvSpPr>
          <p:nvPr>
            <p:ph type="sldNum" sz="quarter" idx="12"/>
          </p:nvPr>
        </p:nvSpPr>
        <p:spPr>
          <a:xfrm>
            <a:off x="6457950" y="4767263"/>
            <a:ext cx="2057400" cy="274637"/>
          </a:xfrm>
          <a:prstGeom prst="rect">
            <a:avLst/>
          </a:prstGeom>
        </p:spPr>
        <p:txBody>
          <a:bodyPr/>
          <a:lstStyle/>
          <a:p>
            <a:fld id="{70762D7C-B095-46E1-8BDD-3106C898DD58}" type="slidenum">
              <a:rPr lang="pt-BR" smtClean="0"/>
              <a:t>‹nº›</a:t>
            </a:fld>
            <a:endParaRPr lang="pt-BR"/>
          </a:p>
        </p:txBody>
      </p:sp>
    </p:spTree>
    <p:extLst>
      <p:ext uri="{BB962C8B-B14F-4D97-AF65-F5344CB8AC3E}">
        <p14:creationId xmlns:p14="http://schemas.microsoft.com/office/powerpoint/2010/main" val="368945869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32462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bg1"/>
        </a:solidFill>
        <a:effectLst/>
      </p:bgPr>
    </p:bg>
    <p:spTree>
      <p:nvGrpSpPr>
        <p:cNvPr id="1" name="Shape 9"/>
        <p:cNvGrpSpPr/>
        <p:nvPr/>
      </p:nvGrpSpPr>
      <p:grpSpPr>
        <a:xfrm>
          <a:off x="0" y="0"/>
          <a:ext cx="0" cy="0"/>
          <a:chOff x="0" y="0"/>
          <a:chExt cx="0" cy="0"/>
        </a:xfrm>
      </p:grpSpPr>
      <p:sp>
        <p:nvSpPr>
          <p:cNvPr id="23" name="Google Shape;23;p2"/>
          <p:cNvSpPr txBox="1">
            <a:spLocks noGrp="1"/>
          </p:cNvSpPr>
          <p:nvPr>
            <p:ph type="ctrTitle"/>
          </p:nvPr>
        </p:nvSpPr>
        <p:spPr>
          <a:xfrm>
            <a:off x="685800" y="1991825"/>
            <a:ext cx="5265000" cy="1159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4000"/>
              <a:buNone/>
              <a:defRPr sz="4000">
                <a:solidFill>
                  <a:srgbClr val="FFFFFF"/>
                </a:solidFill>
              </a:defRPr>
            </a:lvl2pPr>
            <a:lvl3pPr lvl="2">
              <a:spcBef>
                <a:spcPts val="0"/>
              </a:spcBef>
              <a:spcAft>
                <a:spcPts val="0"/>
              </a:spcAft>
              <a:buClr>
                <a:srgbClr val="FFFFFF"/>
              </a:buClr>
              <a:buSzPts val="4000"/>
              <a:buNone/>
              <a:defRPr sz="4000">
                <a:solidFill>
                  <a:srgbClr val="FFFFFF"/>
                </a:solidFill>
              </a:defRPr>
            </a:lvl3pPr>
            <a:lvl4pPr lvl="3">
              <a:spcBef>
                <a:spcPts val="0"/>
              </a:spcBef>
              <a:spcAft>
                <a:spcPts val="0"/>
              </a:spcAft>
              <a:buClr>
                <a:srgbClr val="FFFFFF"/>
              </a:buClr>
              <a:buSzPts val="4000"/>
              <a:buNone/>
              <a:defRPr sz="4000">
                <a:solidFill>
                  <a:srgbClr val="FFFFFF"/>
                </a:solidFill>
              </a:defRPr>
            </a:lvl4pPr>
            <a:lvl5pPr lvl="4">
              <a:spcBef>
                <a:spcPts val="0"/>
              </a:spcBef>
              <a:spcAft>
                <a:spcPts val="0"/>
              </a:spcAft>
              <a:buClr>
                <a:srgbClr val="FFFFFF"/>
              </a:buClr>
              <a:buSzPts val="4000"/>
              <a:buNone/>
              <a:defRPr sz="4000">
                <a:solidFill>
                  <a:srgbClr val="FFFFFF"/>
                </a:solidFill>
              </a:defRPr>
            </a:lvl5pPr>
            <a:lvl6pPr lvl="5">
              <a:spcBef>
                <a:spcPts val="0"/>
              </a:spcBef>
              <a:spcAft>
                <a:spcPts val="0"/>
              </a:spcAft>
              <a:buClr>
                <a:srgbClr val="FFFFFF"/>
              </a:buClr>
              <a:buSzPts val="4000"/>
              <a:buNone/>
              <a:defRPr sz="4000">
                <a:solidFill>
                  <a:srgbClr val="FFFFFF"/>
                </a:solidFill>
              </a:defRPr>
            </a:lvl6pPr>
            <a:lvl7pPr lvl="6">
              <a:spcBef>
                <a:spcPts val="0"/>
              </a:spcBef>
              <a:spcAft>
                <a:spcPts val="0"/>
              </a:spcAft>
              <a:buClr>
                <a:srgbClr val="FFFFFF"/>
              </a:buClr>
              <a:buSzPts val="4000"/>
              <a:buNone/>
              <a:defRPr sz="4000">
                <a:solidFill>
                  <a:srgbClr val="FFFFFF"/>
                </a:solidFill>
              </a:defRPr>
            </a:lvl7pPr>
            <a:lvl8pPr lvl="7">
              <a:spcBef>
                <a:spcPts val="0"/>
              </a:spcBef>
              <a:spcAft>
                <a:spcPts val="0"/>
              </a:spcAft>
              <a:buClr>
                <a:srgbClr val="FFFFFF"/>
              </a:buClr>
              <a:buSzPts val="4000"/>
              <a:buNone/>
              <a:defRPr sz="4000">
                <a:solidFill>
                  <a:srgbClr val="FFFFFF"/>
                </a:solidFill>
              </a:defRPr>
            </a:lvl8pPr>
            <a:lvl9pPr lvl="8">
              <a:spcBef>
                <a:spcPts val="0"/>
              </a:spcBef>
              <a:spcAft>
                <a:spcPts val="0"/>
              </a:spcAft>
              <a:buClr>
                <a:srgbClr val="FFFFFF"/>
              </a:buClr>
              <a:buSzPts val="4000"/>
              <a:buNone/>
              <a:defRPr sz="4000">
                <a:solidFill>
                  <a:srgbClr val="FFFFFF"/>
                </a:solidFill>
              </a:defRPr>
            </a:lvl9pPr>
          </a:lstStyle>
          <a:p>
            <a:endParaRPr/>
          </a:p>
        </p:txBody>
      </p:sp>
    </p:spTree>
    <p:extLst>
      <p:ext uri="{BB962C8B-B14F-4D97-AF65-F5344CB8AC3E}">
        <p14:creationId xmlns:p14="http://schemas.microsoft.com/office/powerpoint/2010/main" val="6578292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03"/>
        <p:cNvGrpSpPr/>
        <p:nvPr/>
      </p:nvGrpSpPr>
      <p:grpSpPr>
        <a:xfrm>
          <a:off x="0" y="0"/>
          <a:ext cx="0" cy="0"/>
          <a:chOff x="0" y="0"/>
          <a:chExt cx="0" cy="0"/>
        </a:xfrm>
      </p:grpSpPr>
      <p:sp>
        <p:nvSpPr>
          <p:cNvPr id="341" name="Google Shape;341;p7"/>
          <p:cNvSpPr txBox="1">
            <a:spLocks noGrp="1"/>
          </p:cNvSpPr>
          <p:nvPr>
            <p:ph type="title"/>
          </p:nvPr>
        </p:nvSpPr>
        <p:spPr>
          <a:xfrm>
            <a:off x="1320025" y="866525"/>
            <a:ext cx="6455700" cy="668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342" name="Google Shape;342;p7"/>
          <p:cNvSpPr txBox="1">
            <a:spLocks noGrp="1"/>
          </p:cNvSpPr>
          <p:nvPr>
            <p:ph type="body" idx="1"/>
          </p:nvPr>
        </p:nvSpPr>
        <p:spPr>
          <a:xfrm>
            <a:off x="1320025"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3" name="Google Shape;343;p7"/>
          <p:cNvSpPr txBox="1">
            <a:spLocks noGrp="1"/>
          </p:cNvSpPr>
          <p:nvPr>
            <p:ph type="body" idx="2"/>
          </p:nvPr>
        </p:nvSpPr>
        <p:spPr>
          <a:xfrm>
            <a:off x="4642177" y="1582625"/>
            <a:ext cx="3133500" cy="2955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344" name="Google Shape;344;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extLst>
      <p:ext uri="{BB962C8B-B14F-4D97-AF65-F5344CB8AC3E}">
        <p14:creationId xmlns:p14="http://schemas.microsoft.com/office/powerpoint/2010/main" val="275644161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48104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3899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1.jpeg"/><Relationship Id="rId5" Type="http://schemas.openxmlformats.org/officeDocument/2006/relationships/slideLayout" Target="../slideLayouts/slideLayout11.xml"/><Relationship Id="rId10" Type="http://schemas.openxmlformats.org/officeDocument/2006/relationships/theme" Target="../theme/theme2.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10" Type="http://schemas.openxmlformats.org/officeDocument/2006/relationships/image" Target="../media/image3.png"/><Relationship Id="rId4" Type="http://schemas.openxmlformats.org/officeDocument/2006/relationships/slideLayout" Target="../slideLayouts/slideLayout19.xml"/><Relationship Id="rId9"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10" Type="http://schemas.openxmlformats.org/officeDocument/2006/relationships/image" Target="../media/image3.png"/><Relationship Id="rId4" Type="http://schemas.openxmlformats.org/officeDocument/2006/relationships/slideLayout" Target="../slideLayouts/slideLayout26.xml"/><Relationship Id="rId9"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1.jpe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5.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image" Target="../media/image1.jpe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heme" Target="../theme/theme6.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image" Target="../media/image1.jpeg"/><Relationship Id="rId5" Type="http://schemas.openxmlformats.org/officeDocument/2006/relationships/slideLayout" Target="../slideLayouts/slideLayout54.xml"/><Relationship Id="rId10" Type="http://schemas.openxmlformats.org/officeDocument/2006/relationships/theme" Target="../theme/theme7.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image" Target="../media/image1.jpeg"/><Relationship Id="rId5" Type="http://schemas.openxmlformats.org/officeDocument/2006/relationships/slideLayout" Target="../slideLayouts/slideLayout63.xml"/><Relationship Id="rId10" Type="http://schemas.openxmlformats.org/officeDocument/2006/relationships/theme" Target="../theme/theme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0"/>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dirty="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8"/>
            <a:ext cx="2258952" cy="276999"/>
          </a:xfrm>
          <a:prstGeom prst="rect">
            <a:avLst/>
          </a:prstGeom>
        </p:spPr>
        <p:txBody>
          <a:bodyPr wrap="none">
            <a:spAutoFit/>
          </a:bodyPr>
          <a:lstStyle/>
          <a:p>
            <a:r>
              <a:rPr lang="pt-BR" sz="1200" dirty="0">
                <a:solidFill>
                  <a:schemeClr val="bg1"/>
                </a:solidFill>
              </a:rPr>
              <a:t>Prof. Luiz Fernando Calábria©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4" y="4889677"/>
            <a:ext cx="1141659" cy="261610"/>
          </a:xfrm>
          <a:prstGeom prst="rect">
            <a:avLst/>
          </a:prstGeom>
        </p:spPr>
        <p:txBody>
          <a:bodyPr wrap="none">
            <a:spAutoFit/>
          </a:bodyPr>
          <a:lstStyle/>
          <a:p>
            <a:r>
              <a:rPr lang="pt-BR" sz="1100">
                <a:solidFill>
                  <a:schemeClr val="bg1"/>
                </a:solidFill>
              </a:rPr>
              <a:t>@</a:t>
            </a:r>
            <a:r>
              <a:rPr lang="pt-BR" sz="1100" err="1">
                <a:solidFill>
                  <a:schemeClr val="bg1"/>
                </a:solidFill>
              </a:rPr>
              <a:t>treina_recife</a:t>
            </a:r>
            <a:endParaRPr lang="pt-BR" sz="1100">
              <a:solidFill>
                <a:schemeClr val="bg1"/>
              </a:solidFill>
            </a:endParaRPr>
          </a:p>
        </p:txBody>
      </p:sp>
      <p:cxnSp>
        <p:nvCxnSpPr>
          <p:cNvPr id="3" name="Conector reto 2">
            <a:extLst>
              <a:ext uri="{FF2B5EF4-FFF2-40B4-BE49-F238E27FC236}">
                <a16:creationId xmlns:a16="http://schemas.microsoft.com/office/drawing/2014/main" id="{5DF72620-CC94-48B2-9CA0-99175298C71C}"/>
              </a:ext>
            </a:extLst>
          </p:cNvPr>
          <p:cNvCxnSpPr>
            <a:cxnSpLocks/>
          </p:cNvCxnSpPr>
          <p:nvPr userDrawn="1"/>
        </p:nvCxnSpPr>
        <p:spPr>
          <a:xfrm>
            <a:off x="965593" y="685780"/>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8"/>
          <a:stretch>
            <a:fillRect/>
          </a:stretch>
        </p:blipFill>
        <p:spPr>
          <a:xfrm>
            <a:off x="116840" y="58420"/>
            <a:ext cx="698500" cy="698500"/>
          </a:xfrm>
          <a:prstGeom prst="rect">
            <a:avLst/>
          </a:prstGeom>
        </p:spPr>
      </p:pic>
    </p:spTree>
    <p:extLst>
      <p:ext uri="{BB962C8B-B14F-4D97-AF65-F5344CB8AC3E}">
        <p14:creationId xmlns:p14="http://schemas.microsoft.com/office/powerpoint/2010/main" val="228771005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72" r:id="rId4"/>
    <p:sldLayoutId id="2147483673" r:id="rId5"/>
    <p:sldLayoutId id="2147483678"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0"/>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8"/>
            <a:ext cx="2550698" cy="276999"/>
          </a:xfrm>
          <a:prstGeom prst="rect">
            <a:avLst/>
          </a:prstGeom>
        </p:spPr>
        <p:txBody>
          <a:bodyPr wrap="none">
            <a:spAutoFit/>
          </a:bodyPr>
          <a:lstStyle/>
          <a:p>
            <a:r>
              <a:rPr lang="pt-BR" sz="1200">
                <a:solidFill>
                  <a:schemeClr val="bg1"/>
                </a:solidFill>
              </a:rPr>
              <a:t>Prof. ME Rogério Aguiar Teixeira©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4" y="4889677"/>
            <a:ext cx="1141659" cy="261610"/>
          </a:xfrm>
          <a:prstGeom prst="rect">
            <a:avLst/>
          </a:prstGeom>
        </p:spPr>
        <p:txBody>
          <a:bodyPr wrap="none">
            <a:spAutoFit/>
          </a:bodyPr>
          <a:lstStyle/>
          <a:p>
            <a:r>
              <a:rPr lang="pt-BR" sz="1100">
                <a:solidFill>
                  <a:schemeClr val="bg1"/>
                </a:solidFill>
              </a:rPr>
              <a:t>@</a:t>
            </a:r>
            <a:r>
              <a:rPr lang="pt-BR" sz="1100" err="1">
                <a:solidFill>
                  <a:schemeClr val="bg1"/>
                </a:solidFill>
              </a:rPr>
              <a:t>treina_recife</a:t>
            </a:r>
            <a:endParaRPr lang="pt-BR" sz="1100">
              <a:solidFill>
                <a:schemeClr val="bg1"/>
              </a:solidFill>
            </a:endParaRPr>
          </a:p>
        </p:txBody>
      </p: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11"/>
          <a:stretch>
            <a:fillRect/>
          </a:stretch>
        </p:blipFill>
        <p:spPr>
          <a:xfrm>
            <a:off x="8291830" y="125875"/>
            <a:ext cx="698500" cy="698500"/>
          </a:xfrm>
          <a:prstGeom prst="rect">
            <a:avLst/>
          </a:prstGeom>
        </p:spPr>
      </p:pic>
    </p:spTree>
    <p:extLst>
      <p:ext uri="{BB962C8B-B14F-4D97-AF65-F5344CB8AC3E}">
        <p14:creationId xmlns:p14="http://schemas.microsoft.com/office/powerpoint/2010/main" val="274692727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6" r:id="rId8"/>
    <p:sldLayoutId id="2147483707"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ACB779-9ED4-4CA3-AD7C-1B3921CA3D15}"/>
              </a:ext>
            </a:extLst>
          </p:cNvPr>
          <p:cNvSpPr/>
          <p:nvPr userDrawn="1"/>
        </p:nvSpPr>
        <p:spPr>
          <a:xfrm>
            <a:off x="0" y="4805506"/>
            <a:ext cx="9144000" cy="33726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
        <p:nvSpPr>
          <p:cNvPr id="11" name="Retângulo 10"/>
          <p:cNvSpPr/>
          <p:nvPr userDrawn="1"/>
        </p:nvSpPr>
        <p:spPr>
          <a:xfrm>
            <a:off x="0" y="4752912"/>
            <a:ext cx="9144000" cy="45719"/>
          </a:xfrm>
          <a:prstGeom prst="rect">
            <a:avLst/>
          </a:prstGeom>
          <a:solidFill>
            <a:srgbClr val="002060"/>
          </a:solidFill>
          <a:ln>
            <a:noFill/>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1800"/>
          </a:p>
        </p:txBody>
      </p:sp>
      <p:sp>
        <p:nvSpPr>
          <p:cNvPr id="15" name="Retângulo 14"/>
          <p:cNvSpPr/>
          <p:nvPr userDrawn="1"/>
        </p:nvSpPr>
        <p:spPr>
          <a:xfrm>
            <a:off x="42929" y="4874433"/>
            <a:ext cx="6275561" cy="253916"/>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pt-BR" sz="1050" b="1"/>
              <a:t>Prof. Rogério Aguiar – Gestão de Indicadores                                                         </a:t>
            </a:r>
            <a:r>
              <a:rPr lang="pt-BR" sz="1000" b="1">
                <a:solidFill>
                  <a:srgbClr val="002060"/>
                </a:solidFill>
              </a:rPr>
              <a:t>@treina_recife</a:t>
            </a:r>
          </a:p>
        </p:txBody>
      </p:sp>
      <p:pic>
        <p:nvPicPr>
          <p:cNvPr id="9" name="Imagem 6" descr="Uma imagem contendo objeto, relógio&#10;&#10;Descrição gerada com muito alta confiança">
            <a:extLst>
              <a:ext uri="{FF2B5EF4-FFF2-40B4-BE49-F238E27FC236}">
                <a16:creationId xmlns:a16="http://schemas.microsoft.com/office/drawing/2014/main" id="{20ED25C1-20A9-423A-B615-98F84AAD0F12}"/>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929632" y="4836335"/>
            <a:ext cx="1171439" cy="268931"/>
          </a:xfrm>
          <a:prstGeom prst="rect">
            <a:avLst/>
          </a:prstGeom>
          <a:effectLst>
            <a:outerShdw blurRad="1079500" dist="50800" dir="5400000" algn="ctr" rotWithShape="0">
              <a:srgbClr val="000000">
                <a:alpha val="0"/>
              </a:srgbClr>
            </a:outerShdw>
          </a:effectLst>
        </p:spPr>
      </p:pic>
      <p:cxnSp>
        <p:nvCxnSpPr>
          <p:cNvPr id="8" name="Conector Reto 2">
            <a:extLst>
              <a:ext uri="{FF2B5EF4-FFF2-40B4-BE49-F238E27FC236}">
                <a16:creationId xmlns:a16="http://schemas.microsoft.com/office/drawing/2014/main" id="{E8A7539D-EA4B-49C8-B485-9C98BFBABB28}"/>
              </a:ext>
            </a:extLst>
          </p:cNvPr>
          <p:cNvCxnSpPr>
            <a:cxnSpLocks/>
          </p:cNvCxnSpPr>
          <p:nvPr userDrawn="1"/>
        </p:nvCxnSpPr>
        <p:spPr>
          <a:xfrm>
            <a:off x="251520" y="685790"/>
            <a:ext cx="8389560" cy="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7" name="Imagem 6">
            <a:extLst>
              <a:ext uri="{FF2B5EF4-FFF2-40B4-BE49-F238E27FC236}">
                <a16:creationId xmlns:a16="http://schemas.microsoft.com/office/drawing/2014/main" id="{A86612F9-FE85-49A8-BC73-D2EEC555DCDB}"/>
              </a:ext>
            </a:extLst>
          </p:cNvPr>
          <p:cNvPicPr>
            <a:picLocks noChangeAspect="1"/>
          </p:cNvPicPr>
          <p:nvPr userDrawn="1"/>
        </p:nvPicPr>
        <p:blipFill>
          <a:blip r:embed="rId10"/>
          <a:stretch>
            <a:fillRect/>
          </a:stretch>
        </p:blipFill>
        <p:spPr>
          <a:xfrm>
            <a:off x="6948264" y="4857843"/>
            <a:ext cx="810090" cy="2259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7374143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6" r:id="rId7"/>
  </p:sldLayoutIdLst>
  <p:hf hdr="0" ftr="0" dt="0"/>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ACB779-9ED4-4CA3-AD7C-1B3921CA3D15}"/>
              </a:ext>
            </a:extLst>
          </p:cNvPr>
          <p:cNvSpPr/>
          <p:nvPr userDrawn="1"/>
        </p:nvSpPr>
        <p:spPr>
          <a:xfrm>
            <a:off x="0" y="4805506"/>
            <a:ext cx="9144000" cy="33726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
        <p:nvSpPr>
          <p:cNvPr id="11" name="Retângulo 10"/>
          <p:cNvSpPr/>
          <p:nvPr userDrawn="1"/>
        </p:nvSpPr>
        <p:spPr>
          <a:xfrm>
            <a:off x="0" y="4752912"/>
            <a:ext cx="9144000" cy="45719"/>
          </a:xfrm>
          <a:prstGeom prst="rect">
            <a:avLst/>
          </a:prstGeom>
          <a:solidFill>
            <a:srgbClr val="002060"/>
          </a:solidFill>
          <a:ln>
            <a:noFill/>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1800"/>
          </a:p>
        </p:txBody>
      </p:sp>
      <p:sp>
        <p:nvSpPr>
          <p:cNvPr id="15" name="Retângulo 14"/>
          <p:cNvSpPr/>
          <p:nvPr userDrawn="1"/>
        </p:nvSpPr>
        <p:spPr>
          <a:xfrm>
            <a:off x="42929" y="4874433"/>
            <a:ext cx="6275561" cy="253916"/>
          </a:xfrm>
          <a:prstGeom prst="rect">
            <a:avLst/>
          </a:prstGeom>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pt-BR" sz="1050" b="1"/>
              <a:t>Prof. Rogério Aguiar – Gestão de Indicadores                                                         </a:t>
            </a:r>
            <a:r>
              <a:rPr lang="pt-BR" sz="1000" b="1">
                <a:solidFill>
                  <a:srgbClr val="002060"/>
                </a:solidFill>
              </a:rPr>
              <a:t>@treina_recife</a:t>
            </a:r>
          </a:p>
        </p:txBody>
      </p:sp>
      <p:pic>
        <p:nvPicPr>
          <p:cNvPr id="9" name="Imagem 6" descr="Uma imagem contendo objeto, relógio&#10;&#10;Descrição gerada com muito alta confiança">
            <a:extLst>
              <a:ext uri="{FF2B5EF4-FFF2-40B4-BE49-F238E27FC236}">
                <a16:creationId xmlns:a16="http://schemas.microsoft.com/office/drawing/2014/main" id="{20ED25C1-20A9-423A-B615-98F84AAD0F12}"/>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7929632" y="4836335"/>
            <a:ext cx="1171439" cy="268931"/>
          </a:xfrm>
          <a:prstGeom prst="rect">
            <a:avLst/>
          </a:prstGeom>
          <a:effectLst>
            <a:outerShdw blurRad="1079500" dist="50800" dir="5400000" algn="ctr" rotWithShape="0">
              <a:srgbClr val="000000">
                <a:alpha val="0"/>
              </a:srgbClr>
            </a:outerShdw>
          </a:effectLst>
        </p:spPr>
      </p:pic>
      <p:cxnSp>
        <p:nvCxnSpPr>
          <p:cNvPr id="8" name="Conector Reto 2">
            <a:extLst>
              <a:ext uri="{FF2B5EF4-FFF2-40B4-BE49-F238E27FC236}">
                <a16:creationId xmlns:a16="http://schemas.microsoft.com/office/drawing/2014/main" id="{E8A7539D-EA4B-49C8-B485-9C98BFBABB28}"/>
              </a:ext>
            </a:extLst>
          </p:cNvPr>
          <p:cNvCxnSpPr>
            <a:cxnSpLocks/>
          </p:cNvCxnSpPr>
          <p:nvPr userDrawn="1"/>
        </p:nvCxnSpPr>
        <p:spPr>
          <a:xfrm>
            <a:off x="251520" y="685790"/>
            <a:ext cx="8389560" cy="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7" name="Imagem 6">
            <a:extLst>
              <a:ext uri="{FF2B5EF4-FFF2-40B4-BE49-F238E27FC236}">
                <a16:creationId xmlns:a16="http://schemas.microsoft.com/office/drawing/2014/main" id="{A86612F9-FE85-49A8-BC73-D2EEC555DCDB}"/>
              </a:ext>
            </a:extLst>
          </p:cNvPr>
          <p:cNvPicPr>
            <a:picLocks noChangeAspect="1"/>
          </p:cNvPicPr>
          <p:nvPr userDrawn="1"/>
        </p:nvPicPr>
        <p:blipFill>
          <a:blip r:embed="rId10"/>
          <a:stretch>
            <a:fillRect/>
          </a:stretch>
        </p:blipFill>
        <p:spPr>
          <a:xfrm>
            <a:off x="6948264" y="4857843"/>
            <a:ext cx="810090" cy="2259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378714345"/>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5" r:id="rId7"/>
  </p:sldLayoutIdLst>
  <p:hf hdr="0" ftr="0" dt="0"/>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1"/>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sz="1800"/>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800"/>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9"/>
            <a:ext cx="2550698" cy="276999"/>
          </a:xfrm>
          <a:prstGeom prst="rect">
            <a:avLst/>
          </a:prstGeom>
        </p:spPr>
        <p:txBody>
          <a:bodyPr wrap="none">
            <a:spAutoFit/>
          </a:bodyPr>
          <a:lstStyle/>
          <a:p>
            <a:r>
              <a:rPr lang="pt-BR" sz="1200">
                <a:solidFill>
                  <a:schemeClr val="bg1"/>
                </a:solidFill>
              </a:rPr>
              <a:t>Prof. ME Rogério Aguiar Teixeira©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5" y="4889677"/>
            <a:ext cx="1103187" cy="261610"/>
          </a:xfrm>
          <a:prstGeom prst="rect">
            <a:avLst/>
          </a:prstGeom>
        </p:spPr>
        <p:txBody>
          <a:bodyPr wrap="none">
            <a:spAutoFit/>
          </a:bodyPr>
          <a:lstStyle/>
          <a:p>
            <a:r>
              <a:rPr lang="pt-BR" sz="1100">
                <a:solidFill>
                  <a:schemeClr val="bg1"/>
                </a:solidFill>
              </a:rPr>
              <a:t>@</a:t>
            </a:r>
            <a:r>
              <a:rPr lang="pt-BR" sz="1100" err="1">
                <a:solidFill>
                  <a:schemeClr val="bg1"/>
                </a:solidFill>
              </a:rPr>
              <a:t>treina_recife</a:t>
            </a:r>
            <a:endParaRPr lang="pt-BR" sz="1100">
              <a:solidFill>
                <a:schemeClr val="bg1"/>
              </a:solidFill>
            </a:endParaRPr>
          </a:p>
        </p:txBody>
      </p:sp>
      <p:cxnSp>
        <p:nvCxnSpPr>
          <p:cNvPr id="3" name="Conector reto 2">
            <a:extLst>
              <a:ext uri="{FF2B5EF4-FFF2-40B4-BE49-F238E27FC236}">
                <a16:creationId xmlns:a16="http://schemas.microsoft.com/office/drawing/2014/main" id="{5DF72620-CC94-48B2-9CA0-99175298C71C}"/>
              </a:ext>
            </a:extLst>
          </p:cNvPr>
          <p:cNvCxnSpPr>
            <a:cxnSpLocks/>
          </p:cNvCxnSpPr>
          <p:nvPr userDrawn="1"/>
        </p:nvCxnSpPr>
        <p:spPr>
          <a:xfrm>
            <a:off x="965594" y="685781"/>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12"/>
          <a:stretch>
            <a:fillRect/>
          </a:stretch>
        </p:blipFill>
        <p:spPr>
          <a:xfrm>
            <a:off x="116841" y="58421"/>
            <a:ext cx="698500" cy="698500"/>
          </a:xfrm>
          <a:prstGeom prst="rect">
            <a:avLst/>
          </a:prstGeom>
        </p:spPr>
      </p:pic>
    </p:spTree>
    <p:extLst>
      <p:ext uri="{BB962C8B-B14F-4D97-AF65-F5344CB8AC3E}">
        <p14:creationId xmlns:p14="http://schemas.microsoft.com/office/powerpoint/2010/main" val="1636664955"/>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9" r:id="rId6"/>
    <p:sldLayoutId id="2147483760" r:id="rId7"/>
    <p:sldLayoutId id="2147483761" r:id="rId8"/>
    <p:sldLayoutId id="2147483762" r:id="rId9"/>
    <p:sldLayoutId id="2147483763" r:id="rId10"/>
  </p:sldLayoutIdLst>
  <p:hf hdr="0" ftr="0" dt="0"/>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0"/>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8"/>
            <a:ext cx="2550698" cy="276999"/>
          </a:xfrm>
          <a:prstGeom prst="rect">
            <a:avLst/>
          </a:prstGeom>
        </p:spPr>
        <p:txBody>
          <a:bodyPr wrap="none">
            <a:spAutoFit/>
          </a:bodyPr>
          <a:lstStyle/>
          <a:p>
            <a:r>
              <a:rPr lang="pt-BR" sz="1200">
                <a:solidFill>
                  <a:schemeClr val="bg1"/>
                </a:solidFill>
              </a:rPr>
              <a:t>Prof. ME Rogério Aguiar Teixeira©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4" y="4889677"/>
            <a:ext cx="1141659" cy="261610"/>
          </a:xfrm>
          <a:prstGeom prst="rect">
            <a:avLst/>
          </a:prstGeom>
        </p:spPr>
        <p:txBody>
          <a:bodyPr wrap="none">
            <a:spAutoFit/>
          </a:bodyPr>
          <a:lstStyle/>
          <a:p>
            <a:r>
              <a:rPr lang="pt-BR" sz="1100">
                <a:solidFill>
                  <a:schemeClr val="bg1"/>
                </a:solidFill>
              </a:rPr>
              <a:t>@</a:t>
            </a:r>
            <a:r>
              <a:rPr lang="pt-BR" sz="1100" err="1">
                <a:solidFill>
                  <a:schemeClr val="bg1"/>
                </a:solidFill>
              </a:rPr>
              <a:t>treina_recife</a:t>
            </a:r>
            <a:endParaRPr lang="pt-BR" sz="1100">
              <a:solidFill>
                <a:schemeClr val="bg1"/>
              </a:solidFill>
            </a:endParaRPr>
          </a:p>
        </p:txBody>
      </p: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12"/>
          <a:stretch>
            <a:fillRect/>
          </a:stretch>
        </p:blipFill>
        <p:spPr>
          <a:xfrm>
            <a:off x="8291830" y="125875"/>
            <a:ext cx="698500" cy="698500"/>
          </a:xfrm>
          <a:prstGeom prst="rect">
            <a:avLst/>
          </a:prstGeom>
        </p:spPr>
      </p:pic>
    </p:spTree>
    <p:extLst>
      <p:ext uri="{BB962C8B-B14F-4D97-AF65-F5344CB8AC3E}">
        <p14:creationId xmlns:p14="http://schemas.microsoft.com/office/powerpoint/2010/main" val="174161120"/>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0"/>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8"/>
            <a:ext cx="2550698" cy="276999"/>
          </a:xfrm>
          <a:prstGeom prst="rect">
            <a:avLst/>
          </a:prstGeom>
        </p:spPr>
        <p:txBody>
          <a:bodyPr wrap="none">
            <a:spAutoFit/>
          </a:bodyPr>
          <a:lstStyle/>
          <a:p>
            <a:r>
              <a:rPr lang="pt-BR" sz="1200">
                <a:solidFill>
                  <a:schemeClr val="bg1"/>
                </a:solidFill>
              </a:rPr>
              <a:t>Prof. ME Rogério Aguiar Teixeira©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4" y="4889677"/>
            <a:ext cx="1141659" cy="261610"/>
          </a:xfrm>
          <a:prstGeom prst="rect">
            <a:avLst/>
          </a:prstGeom>
        </p:spPr>
        <p:txBody>
          <a:bodyPr wrap="none">
            <a:spAutoFit/>
          </a:bodyPr>
          <a:lstStyle/>
          <a:p>
            <a:r>
              <a:rPr lang="pt-BR" sz="1100">
                <a:solidFill>
                  <a:schemeClr val="bg1"/>
                </a:solidFill>
              </a:rPr>
              <a:t>@</a:t>
            </a:r>
            <a:r>
              <a:rPr lang="pt-BR" sz="1100" err="1">
                <a:solidFill>
                  <a:schemeClr val="bg1"/>
                </a:solidFill>
              </a:rPr>
              <a:t>treina_recife</a:t>
            </a:r>
            <a:endParaRPr lang="pt-BR" sz="1100">
              <a:solidFill>
                <a:schemeClr val="bg1"/>
              </a:solidFill>
            </a:endParaRPr>
          </a:p>
        </p:txBody>
      </p: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11"/>
          <a:stretch>
            <a:fillRect/>
          </a:stretch>
        </p:blipFill>
        <p:spPr>
          <a:xfrm>
            <a:off x="8291830" y="125875"/>
            <a:ext cx="698500" cy="698500"/>
          </a:xfrm>
          <a:prstGeom prst="rect">
            <a:avLst/>
          </a:prstGeom>
        </p:spPr>
      </p:pic>
    </p:spTree>
    <p:extLst>
      <p:ext uri="{BB962C8B-B14F-4D97-AF65-F5344CB8AC3E}">
        <p14:creationId xmlns:p14="http://schemas.microsoft.com/office/powerpoint/2010/main" val="2998820299"/>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4" r:id="rId8"/>
    <p:sldLayoutId id="2147483785"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032BF1A3-4844-4F3E-BC58-288EF4F68624}"/>
              </a:ext>
            </a:extLst>
          </p:cNvPr>
          <p:cNvSpPr/>
          <p:nvPr userDrawn="1"/>
        </p:nvSpPr>
        <p:spPr>
          <a:xfrm>
            <a:off x="-5302" y="4765610"/>
            <a:ext cx="9144000" cy="11350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4687055-DADE-49BD-B02A-667E7949D097}"/>
              </a:ext>
            </a:extLst>
          </p:cNvPr>
          <p:cNvSpPr/>
          <p:nvPr userDrawn="1"/>
        </p:nvSpPr>
        <p:spPr>
          <a:xfrm>
            <a:off x="0" y="4887068"/>
            <a:ext cx="9144000" cy="25143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5E72F5FA-DFFC-4B53-94BA-D7EE10B4C3DE}"/>
              </a:ext>
            </a:extLst>
          </p:cNvPr>
          <p:cNvSpPr/>
          <p:nvPr userDrawn="1"/>
        </p:nvSpPr>
        <p:spPr>
          <a:xfrm>
            <a:off x="7788648" y="4902457"/>
            <a:ext cx="1350050" cy="261610"/>
          </a:xfrm>
          <a:prstGeom prst="rect">
            <a:avLst/>
          </a:prstGeom>
        </p:spPr>
        <p:txBody>
          <a:bodyPr wrap="none">
            <a:spAutoFit/>
          </a:bodyPr>
          <a:lstStyle/>
          <a:p>
            <a:r>
              <a:rPr lang="pt-BR" sz="1100">
                <a:solidFill>
                  <a:schemeClr val="bg1"/>
                </a:solidFill>
              </a:rPr>
              <a:t>treinarecife.com.br</a:t>
            </a:r>
          </a:p>
        </p:txBody>
      </p:sp>
      <p:sp>
        <p:nvSpPr>
          <p:cNvPr id="14" name="Retângulo 13">
            <a:extLst>
              <a:ext uri="{FF2B5EF4-FFF2-40B4-BE49-F238E27FC236}">
                <a16:creationId xmlns:a16="http://schemas.microsoft.com/office/drawing/2014/main" id="{A367BCA5-88C9-405B-8F28-67F39104D45F}"/>
              </a:ext>
            </a:extLst>
          </p:cNvPr>
          <p:cNvSpPr/>
          <p:nvPr userDrawn="1"/>
        </p:nvSpPr>
        <p:spPr>
          <a:xfrm>
            <a:off x="0" y="4887068"/>
            <a:ext cx="2550698" cy="276999"/>
          </a:xfrm>
          <a:prstGeom prst="rect">
            <a:avLst/>
          </a:prstGeom>
        </p:spPr>
        <p:txBody>
          <a:bodyPr wrap="none">
            <a:spAutoFit/>
          </a:bodyPr>
          <a:lstStyle/>
          <a:p>
            <a:r>
              <a:rPr lang="pt-BR" sz="1200">
                <a:solidFill>
                  <a:schemeClr val="bg1"/>
                </a:solidFill>
              </a:rPr>
              <a:t>Prof. ME Rogério Aguiar Teixeira©</a:t>
            </a:r>
          </a:p>
        </p:txBody>
      </p:sp>
      <p:sp>
        <p:nvSpPr>
          <p:cNvPr id="15" name="Retângulo 14">
            <a:extLst>
              <a:ext uri="{FF2B5EF4-FFF2-40B4-BE49-F238E27FC236}">
                <a16:creationId xmlns:a16="http://schemas.microsoft.com/office/drawing/2014/main" id="{E1DB5263-F56B-40D0-938C-66DD22E20C5B}"/>
              </a:ext>
            </a:extLst>
          </p:cNvPr>
          <p:cNvSpPr/>
          <p:nvPr userDrawn="1"/>
        </p:nvSpPr>
        <p:spPr>
          <a:xfrm>
            <a:off x="3822274" y="4889677"/>
            <a:ext cx="1141659" cy="261610"/>
          </a:xfrm>
          <a:prstGeom prst="rect">
            <a:avLst/>
          </a:prstGeom>
        </p:spPr>
        <p:txBody>
          <a:bodyPr wrap="none">
            <a:spAutoFit/>
          </a:bodyPr>
          <a:lstStyle/>
          <a:p>
            <a:r>
              <a:rPr lang="pt-BR" sz="1100">
                <a:solidFill>
                  <a:schemeClr val="bg1"/>
                </a:solidFill>
              </a:rPr>
              <a:t>@</a:t>
            </a:r>
            <a:r>
              <a:rPr lang="pt-BR" sz="1100" err="1">
                <a:solidFill>
                  <a:schemeClr val="bg1"/>
                </a:solidFill>
              </a:rPr>
              <a:t>treina_recife</a:t>
            </a:r>
            <a:endParaRPr lang="pt-BR" sz="1100">
              <a:solidFill>
                <a:schemeClr val="bg1"/>
              </a:solidFill>
            </a:endParaRPr>
          </a:p>
        </p:txBody>
      </p:sp>
      <p:cxnSp>
        <p:nvCxnSpPr>
          <p:cNvPr id="3" name="Conector reto 2">
            <a:extLst>
              <a:ext uri="{FF2B5EF4-FFF2-40B4-BE49-F238E27FC236}">
                <a16:creationId xmlns:a16="http://schemas.microsoft.com/office/drawing/2014/main" id="{5DF72620-CC94-48B2-9CA0-99175298C71C}"/>
              </a:ext>
            </a:extLst>
          </p:cNvPr>
          <p:cNvCxnSpPr>
            <a:cxnSpLocks/>
          </p:cNvCxnSpPr>
          <p:nvPr userDrawn="1"/>
        </p:nvCxnSpPr>
        <p:spPr>
          <a:xfrm>
            <a:off x="965593" y="685780"/>
            <a:ext cx="7675487" cy="10"/>
          </a:xfrm>
          <a:prstGeom prst="line">
            <a:avLst/>
          </a:prstGeom>
          <a:ln w="28575">
            <a:solidFill>
              <a:srgbClr val="002060"/>
            </a:solidFill>
          </a:ln>
          <a:effectLst>
            <a:outerShdw blurRad="50800" dist="38100" dir="5400000" algn="t" rotWithShape="0">
              <a:prstClr val="black">
                <a:alpha val="40000"/>
              </a:prstClr>
            </a:outerShdw>
          </a:effectLst>
        </p:spPr>
        <p:style>
          <a:lnRef idx="1">
            <a:schemeClr val="dk1"/>
          </a:lnRef>
          <a:fillRef idx="0">
            <a:schemeClr val="dk1"/>
          </a:fillRef>
          <a:effectRef idx="0">
            <a:schemeClr val="dk1"/>
          </a:effectRef>
          <a:fontRef idx="minor">
            <a:schemeClr val="tx1"/>
          </a:fontRef>
        </p:style>
      </p:cxnSp>
      <p:pic>
        <p:nvPicPr>
          <p:cNvPr id="5" name="Imagem 4" descr="Uma imagem contendo texto, desenho&#10;&#10;Descrição gerada automaticamente">
            <a:extLst>
              <a:ext uri="{FF2B5EF4-FFF2-40B4-BE49-F238E27FC236}">
                <a16:creationId xmlns:a16="http://schemas.microsoft.com/office/drawing/2014/main" id="{46F6FD7A-155A-43A9-9503-34077F254F43}"/>
              </a:ext>
            </a:extLst>
          </p:cNvPr>
          <p:cNvPicPr>
            <a:picLocks noChangeAspect="1"/>
          </p:cNvPicPr>
          <p:nvPr userDrawn="1"/>
        </p:nvPicPr>
        <p:blipFill>
          <a:blip r:embed="rId11"/>
          <a:stretch>
            <a:fillRect/>
          </a:stretch>
        </p:blipFill>
        <p:spPr>
          <a:xfrm>
            <a:off x="116840" y="58420"/>
            <a:ext cx="698500" cy="698500"/>
          </a:xfrm>
          <a:prstGeom prst="rect">
            <a:avLst/>
          </a:prstGeom>
        </p:spPr>
      </p:pic>
    </p:spTree>
    <p:extLst>
      <p:ext uri="{BB962C8B-B14F-4D97-AF65-F5344CB8AC3E}">
        <p14:creationId xmlns:p14="http://schemas.microsoft.com/office/powerpoint/2010/main" val="3122440049"/>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26"/>
        <p:cNvGrpSpPr/>
        <p:nvPr/>
      </p:nvGrpSpPr>
      <p:grpSpPr>
        <a:xfrm>
          <a:off x="0" y="0"/>
          <a:ext cx="0" cy="0"/>
          <a:chOff x="0" y="0"/>
          <a:chExt cx="0" cy="0"/>
        </a:xfrm>
      </p:grpSpPr>
      <p:sp>
        <p:nvSpPr>
          <p:cNvPr id="76" name="Rectangle 75">
            <a:extLst>
              <a:ext uri="{FF2B5EF4-FFF2-40B4-BE49-F238E27FC236}">
                <a16:creationId xmlns:a16="http://schemas.microsoft.com/office/drawing/2014/main" id="{1045B59B-615E-4718-A150-42DE5D03E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D6CF29CD-38B8-4924-BA11-6D6051748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82112"/>
            <a:ext cx="9144000" cy="19613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tângulo 11">
            <a:extLst>
              <a:ext uri="{FF2B5EF4-FFF2-40B4-BE49-F238E27FC236}">
                <a16:creationId xmlns:a16="http://schemas.microsoft.com/office/drawing/2014/main" id="{EB02B1E5-D423-487D-A55F-B7BB2F3597D2}"/>
              </a:ext>
            </a:extLst>
          </p:cNvPr>
          <p:cNvSpPr/>
          <p:nvPr/>
        </p:nvSpPr>
        <p:spPr>
          <a:xfrm>
            <a:off x="530258" y="3376747"/>
            <a:ext cx="8074057" cy="905452"/>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5600" b="1" kern="1200" cap="none" spc="0" dirty="0" err="1">
                <a:ln w="12700">
                  <a:solidFill>
                    <a:schemeClr val="accent1"/>
                  </a:solidFill>
                  <a:prstDash val="solid"/>
                </a:ln>
                <a:solidFill>
                  <a:srgbClr val="FFFFFF"/>
                </a:solidFill>
                <a:effectLst>
                  <a:outerShdw dist="38100" dir="2640000" algn="bl" rotWithShape="0">
                    <a:schemeClr val="accent1"/>
                  </a:outerShdw>
                </a:effectLst>
                <a:latin typeface="+mj-lt"/>
                <a:ea typeface="+mj-ea"/>
                <a:cs typeface="+mj-cs"/>
              </a:rPr>
              <a:t>Séries</a:t>
            </a:r>
            <a:r>
              <a:rPr lang="en-US" sz="5600" b="1" kern="1200" cap="none" spc="0" dirty="0">
                <a:ln w="12700">
                  <a:solidFill>
                    <a:schemeClr val="accent1"/>
                  </a:solidFill>
                  <a:prstDash val="solid"/>
                </a:ln>
                <a:solidFill>
                  <a:srgbClr val="FFFFFF"/>
                </a:solidFill>
                <a:effectLst>
                  <a:outerShdw dist="38100" dir="2640000" algn="bl" rotWithShape="0">
                    <a:schemeClr val="accent1"/>
                  </a:outerShdw>
                </a:effectLst>
                <a:latin typeface="+mj-lt"/>
                <a:ea typeface="+mj-ea"/>
                <a:cs typeface="+mj-cs"/>
              </a:rPr>
              <a:t> </a:t>
            </a:r>
            <a:r>
              <a:rPr lang="en-US" sz="5600" b="1" kern="1200" cap="none" spc="0" dirty="0" err="1">
                <a:ln w="12700">
                  <a:solidFill>
                    <a:schemeClr val="accent1"/>
                  </a:solidFill>
                  <a:prstDash val="solid"/>
                </a:ln>
                <a:solidFill>
                  <a:srgbClr val="FFFFFF"/>
                </a:solidFill>
                <a:effectLst>
                  <a:outerShdw dist="38100" dir="2640000" algn="bl" rotWithShape="0">
                    <a:schemeClr val="accent1"/>
                  </a:outerShdw>
                </a:effectLst>
                <a:latin typeface="+mj-lt"/>
                <a:ea typeface="+mj-ea"/>
                <a:cs typeface="+mj-cs"/>
              </a:rPr>
              <a:t>Temporais</a:t>
            </a:r>
            <a:endParaRPr lang="en-US" sz="5600" b="1" kern="1200" cap="none" spc="0" dirty="0">
              <a:ln w="12700">
                <a:solidFill>
                  <a:schemeClr val="accent1"/>
                </a:solidFill>
                <a:prstDash val="solid"/>
              </a:ln>
              <a:solidFill>
                <a:srgbClr val="FFFFFF"/>
              </a:solidFill>
              <a:effectLst>
                <a:outerShdw dist="38100" dir="2640000" algn="bl" rotWithShape="0">
                  <a:schemeClr val="accent1"/>
                </a:outerShdw>
              </a:effectLst>
              <a:latin typeface="+mj-lt"/>
              <a:ea typeface="+mj-ea"/>
              <a:cs typeface="+mj-cs"/>
            </a:endParaRPr>
          </a:p>
        </p:txBody>
      </p:sp>
      <p:pic>
        <p:nvPicPr>
          <p:cNvPr id="20" name="Imagem 19" descr="Uma imagem contendo objeto, relógio, computador, monitor&#10;&#10;Descrição gerada automaticamente">
            <a:extLst>
              <a:ext uri="{FF2B5EF4-FFF2-40B4-BE49-F238E27FC236}">
                <a16:creationId xmlns:a16="http://schemas.microsoft.com/office/drawing/2014/main" id="{DF68962B-33C0-4F9F-ADD2-F89885802642}"/>
              </a:ext>
            </a:extLst>
          </p:cNvPr>
          <p:cNvPicPr>
            <a:picLocks noChangeAspect="1"/>
          </p:cNvPicPr>
          <p:nvPr/>
        </p:nvPicPr>
        <p:blipFill>
          <a:blip r:embed="rId3"/>
          <a:stretch>
            <a:fillRect/>
          </a:stretch>
        </p:blipFill>
        <p:spPr>
          <a:xfrm>
            <a:off x="530258" y="539545"/>
            <a:ext cx="7443991" cy="1712121"/>
          </a:xfrm>
          <a:prstGeom prst="rect">
            <a:avLst/>
          </a:prstGeom>
        </p:spPr>
      </p:pic>
      <p:pic>
        <p:nvPicPr>
          <p:cNvPr id="3" name="Imagem 2">
            <a:extLst>
              <a:ext uri="{FF2B5EF4-FFF2-40B4-BE49-F238E27FC236}">
                <a16:creationId xmlns:a16="http://schemas.microsoft.com/office/drawing/2014/main" id="{BCD569AE-4467-415A-ABC5-E1D9460B1E32}"/>
              </a:ext>
            </a:extLst>
          </p:cNvPr>
          <p:cNvPicPr>
            <a:picLocks noChangeAspect="1"/>
          </p:cNvPicPr>
          <p:nvPr/>
        </p:nvPicPr>
        <p:blipFill>
          <a:blip r:embed="rId4"/>
          <a:stretch>
            <a:fillRect/>
          </a:stretch>
        </p:blipFill>
        <p:spPr>
          <a:xfrm>
            <a:off x="7557236" y="4588039"/>
            <a:ext cx="1390822" cy="394791"/>
          </a:xfrm>
          <a:prstGeom prst="rect">
            <a:avLst/>
          </a:prstGeom>
        </p:spPr>
      </p:pic>
      <p:sp>
        <p:nvSpPr>
          <p:cNvPr id="19" name="Retângulo 2">
            <a:extLst>
              <a:ext uri="{FF2B5EF4-FFF2-40B4-BE49-F238E27FC236}">
                <a16:creationId xmlns:a16="http://schemas.microsoft.com/office/drawing/2014/main" id="{F479B6A1-F4E7-45AA-A3C1-D4BB37054866}"/>
              </a:ext>
            </a:extLst>
          </p:cNvPr>
          <p:cNvSpPr>
            <a:spLocks noChangeArrowheads="1"/>
          </p:cNvSpPr>
          <p:nvPr/>
        </p:nvSpPr>
        <p:spPr bwMode="auto">
          <a:xfrm>
            <a:off x="4707503" y="2725432"/>
            <a:ext cx="4436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pt-BR" altLang="pt-BR" sz="1800" b="1" i="1" dirty="0"/>
              <a:t>Prof. Luiz Fernando Calábria</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87960088-159D-49AB-842B-E8127F92C9B8}"/>
              </a:ext>
            </a:extLst>
          </p:cNvPr>
          <p:cNvSpPr>
            <a:spLocks noChangeArrowheads="1"/>
          </p:cNvSpPr>
          <p:nvPr/>
        </p:nvSpPr>
        <p:spPr bwMode="auto">
          <a:xfrm>
            <a:off x="323528" y="771550"/>
            <a:ext cx="8657706" cy="403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dirty="0"/>
              <a:t>A análise de séries temporais desempenha um papel fundamental em diversos setores, permitindo compreender padrões, prever tendências futuras e tomar decisões informadas.</a:t>
            </a:r>
          </a:p>
          <a:p>
            <a:pPr marL="342900" indent="-342900" algn="just">
              <a:buFont typeface="Arial" panose="020B0604020202020204" pitchFamily="34" charset="0"/>
              <a:buChar char="•"/>
            </a:pPr>
            <a:r>
              <a:rPr lang="pt-BR" sz="2000" b="1" dirty="0"/>
              <a:t>Finanças e Economia:</a:t>
            </a:r>
            <a:r>
              <a:rPr lang="pt-BR" sz="2000" dirty="0"/>
              <a:t> A análise de séries temporais é fundamental para prever o comportamento de mercados, ações, taxas de câmbio e inflação. </a:t>
            </a:r>
          </a:p>
          <a:p>
            <a:pPr marL="342900" indent="-342900" algn="just">
              <a:buFont typeface="Arial" panose="020B0604020202020204" pitchFamily="34" charset="0"/>
              <a:buChar char="•"/>
            </a:pPr>
            <a:r>
              <a:rPr lang="pt-BR" sz="2000" b="1" dirty="0"/>
              <a:t>Meteorologia:</a:t>
            </a:r>
            <a:r>
              <a:rPr lang="pt-BR" sz="2000" dirty="0"/>
              <a:t> A previsão do tempo depende fortemente da análise de dados históricos para prever condições futuras.</a:t>
            </a:r>
          </a:p>
          <a:p>
            <a:pPr marL="342900" indent="-342900" algn="just">
              <a:buFont typeface="Arial" panose="020B0604020202020204" pitchFamily="34" charset="0"/>
              <a:buChar char="•"/>
            </a:pPr>
            <a:r>
              <a:rPr lang="pt-BR" sz="2000" b="1" dirty="0"/>
              <a:t>Saúde Pública:</a:t>
            </a:r>
            <a:r>
              <a:rPr lang="pt-BR" sz="2000" dirty="0"/>
              <a:t> Séries temporais são usadas para monitorar a propagação de doenças, avaliar a eficácia de intervenções e planejar recursos hospitalares. Durante pandemias, a análise de séries temporais pode ser vital para prever surtos e reduzir a disseminação de doenças.</a:t>
            </a:r>
          </a:p>
          <a:p>
            <a:pPr marL="285750" indent="-285750" algn="just">
              <a:buFont typeface="Arial" panose="020B0604020202020204" pitchFamily="34" charset="0"/>
              <a:buChar char="•"/>
            </a:pPr>
            <a:endParaRPr lang="pt-BR" sz="1800" dirty="0">
              <a:cs typeface="Arial" panose="020B0604020202020204" pitchFamily="34" charset="0"/>
            </a:endParaRPr>
          </a:p>
        </p:txBody>
      </p:sp>
      <p:sp>
        <p:nvSpPr>
          <p:cNvPr id="18435" name="Text Box 4">
            <a:extLst>
              <a:ext uri="{FF2B5EF4-FFF2-40B4-BE49-F238E27FC236}">
                <a16:creationId xmlns:a16="http://schemas.microsoft.com/office/drawing/2014/main" id="{5CACB99D-6C7E-4FA6-B207-19058B85811B}"/>
              </a:ext>
            </a:extLst>
          </p:cNvPr>
          <p:cNvSpPr txBox="1">
            <a:spLocks noChangeArrowheads="1"/>
          </p:cNvSpPr>
          <p:nvPr/>
        </p:nvSpPr>
        <p:spPr bwMode="auto">
          <a:xfrm>
            <a:off x="839159" y="158447"/>
            <a:ext cx="902093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Séries Temporais</a:t>
            </a:r>
          </a:p>
        </p:txBody>
      </p:sp>
      <p:sp>
        <p:nvSpPr>
          <p:cNvPr id="2" name="Retângulo 1">
            <a:extLst>
              <a:ext uri="{FF2B5EF4-FFF2-40B4-BE49-F238E27FC236}">
                <a16:creationId xmlns:a16="http://schemas.microsoft.com/office/drawing/2014/main" id="{0C5A62B1-F847-400E-83E9-420837D9CF35}"/>
              </a:ext>
            </a:extLst>
          </p:cNvPr>
          <p:cNvSpPr/>
          <p:nvPr/>
        </p:nvSpPr>
        <p:spPr>
          <a:xfrm>
            <a:off x="4317101" y="2229736"/>
            <a:ext cx="4572000" cy="307777"/>
          </a:xfrm>
          <a:prstGeom prst="rect">
            <a:avLst/>
          </a:prstGeom>
        </p:spPr>
        <p:txBody>
          <a:bodyPr>
            <a:spAutoFit/>
          </a:bodyPr>
          <a:lstStyle/>
          <a:p>
            <a:endParaRPr lang="pt-BR"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8BFAB-315A-C2C4-3743-6A56360D85E1}"/>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DB5CD5E1-037F-C3E0-BBE1-61806E0E6BD0}"/>
              </a:ext>
            </a:extLst>
          </p:cNvPr>
          <p:cNvSpPr>
            <a:spLocks noChangeArrowheads="1"/>
          </p:cNvSpPr>
          <p:nvPr/>
        </p:nvSpPr>
        <p:spPr bwMode="auto">
          <a:xfrm>
            <a:off x="323528" y="699542"/>
            <a:ext cx="8657706"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pt-BR" sz="2000" b="1" dirty="0"/>
              <a:t>Manufatura e Cadeia de Suprimentos:</a:t>
            </a:r>
            <a:r>
              <a:rPr lang="pt-BR" sz="2000" dirty="0"/>
              <a:t> A análise de séries temporais ajuda a prever a demanda de produtos, otimizar a produção e gerenciar o estoque. </a:t>
            </a:r>
          </a:p>
          <a:p>
            <a:pPr marL="342900" indent="-342900" algn="just">
              <a:buFont typeface="Arial" panose="020B0604020202020204" pitchFamily="34" charset="0"/>
              <a:buChar char="•"/>
            </a:pPr>
            <a:r>
              <a:rPr lang="pt-BR" sz="2000" b="1" dirty="0"/>
              <a:t>Energia:</a:t>
            </a:r>
            <a:r>
              <a:rPr lang="pt-BR" sz="2000" dirty="0"/>
              <a:t> Empresas de energia utilizam séries temporais para prever a demanda de energia e otimizar a geração e distribuição. </a:t>
            </a:r>
          </a:p>
          <a:p>
            <a:pPr marL="342900" indent="-342900" algn="just">
              <a:buFont typeface="Arial" panose="020B0604020202020204" pitchFamily="34" charset="0"/>
              <a:buChar char="•"/>
            </a:pPr>
            <a:r>
              <a:rPr lang="pt-BR" sz="2000" b="1" dirty="0"/>
              <a:t>Telecomunicações:</a:t>
            </a:r>
            <a:r>
              <a:rPr lang="pt-BR" sz="2000" dirty="0"/>
              <a:t> A análise de séries temporais é usada para prever padrões de tráfego de dados, o que é usado para o dimensionamento de infraestrutura e a garantia de qualidade de serviço em redes de telecomunicações.</a:t>
            </a:r>
          </a:p>
          <a:p>
            <a:pPr marL="342900" indent="-342900" algn="just">
              <a:buFont typeface="Arial" panose="020B0604020202020204" pitchFamily="34" charset="0"/>
              <a:buChar char="•"/>
            </a:pPr>
            <a:r>
              <a:rPr lang="pt-BR" sz="2000" b="1" dirty="0"/>
              <a:t>Varejo:</a:t>
            </a:r>
            <a:r>
              <a:rPr lang="pt-BR" sz="2000" dirty="0"/>
              <a:t> A previsão de vendas através de séries temporais ajuda na gestão de estoques, planejamento de promoções e otimização da cadeia de suprimentos.</a:t>
            </a:r>
          </a:p>
          <a:p>
            <a:pPr marL="285750" indent="-285750" algn="just">
              <a:buFont typeface="Arial" panose="020B0604020202020204" pitchFamily="34" charset="0"/>
              <a:buChar char="•"/>
            </a:pPr>
            <a:endParaRPr lang="pt-BR" sz="1800" dirty="0">
              <a:cs typeface="Arial" panose="020B0604020202020204" pitchFamily="34" charset="0"/>
            </a:endParaRPr>
          </a:p>
        </p:txBody>
      </p:sp>
      <p:sp>
        <p:nvSpPr>
          <p:cNvPr id="18435" name="Text Box 4">
            <a:extLst>
              <a:ext uri="{FF2B5EF4-FFF2-40B4-BE49-F238E27FC236}">
                <a16:creationId xmlns:a16="http://schemas.microsoft.com/office/drawing/2014/main" id="{E16D9FFD-7AF6-FB6C-0D09-08993D6208B1}"/>
              </a:ext>
            </a:extLst>
          </p:cNvPr>
          <p:cNvSpPr txBox="1">
            <a:spLocks noChangeArrowheads="1"/>
          </p:cNvSpPr>
          <p:nvPr/>
        </p:nvSpPr>
        <p:spPr bwMode="auto">
          <a:xfrm>
            <a:off x="839159" y="158447"/>
            <a:ext cx="902093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Séries Temporais</a:t>
            </a:r>
          </a:p>
        </p:txBody>
      </p:sp>
      <p:sp>
        <p:nvSpPr>
          <p:cNvPr id="2" name="Retângulo 1">
            <a:extLst>
              <a:ext uri="{FF2B5EF4-FFF2-40B4-BE49-F238E27FC236}">
                <a16:creationId xmlns:a16="http://schemas.microsoft.com/office/drawing/2014/main" id="{F3210AE5-6D33-28C4-8BA9-CA10AB0FF0C8}"/>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386769720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CE817-F6DA-EA27-DF20-BD8E64852800}"/>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14887277-E413-240F-84AF-55E6F6A8528E}"/>
              </a:ext>
            </a:extLst>
          </p:cNvPr>
          <p:cNvSpPr>
            <a:spLocks noChangeArrowheads="1"/>
          </p:cNvSpPr>
          <p:nvPr/>
        </p:nvSpPr>
        <p:spPr bwMode="auto">
          <a:xfrm>
            <a:off x="320942" y="792178"/>
            <a:ext cx="8657706" cy="3490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algn="just">
              <a:buFont typeface="Arial" panose="020B0604020202020204" pitchFamily="34" charset="0"/>
              <a:buChar char="•"/>
            </a:pPr>
            <a:r>
              <a:rPr lang="pt-BR" sz="2000" b="1" dirty="0"/>
              <a:t>Coleta e Tratamento de Dados:</a:t>
            </a:r>
            <a:r>
              <a:rPr lang="pt-BR" sz="2000" dirty="0"/>
              <a:t> Os dados são coletados em intervalos regulares ao longo do tempo. Por exemplo, dados diários de temperatura, cotações semanais de ações ou PIB trimestral de um país.</a:t>
            </a:r>
          </a:p>
          <a:p>
            <a:pPr marL="342900" indent="-342900" algn="just">
              <a:buFont typeface="Arial" panose="020B0604020202020204" pitchFamily="34" charset="0"/>
              <a:buChar char="•"/>
            </a:pPr>
            <a:r>
              <a:rPr lang="pt-BR" sz="2000" b="1" dirty="0"/>
              <a:t>Modelagem:</a:t>
            </a:r>
            <a:r>
              <a:rPr lang="pt-BR" sz="2000" dirty="0"/>
              <a:t> Existem modelos estatísticos para analisarem séries temporais, como ARIMA(Modelo </a:t>
            </a:r>
            <a:r>
              <a:rPr lang="pt-BR" sz="2000" dirty="0" err="1"/>
              <a:t>Autoregressivo</a:t>
            </a:r>
            <a:r>
              <a:rPr lang="pt-BR" sz="2000" dirty="0"/>
              <a:t> Integrado de Médias Móveis), modelos de suavização exponencial e modelos baseados em inteligência artificial. Estes modelos ajudam a entender e prever comportamentos futuro dos dados.</a:t>
            </a:r>
          </a:p>
          <a:p>
            <a:pPr marL="342900" indent="-342900" algn="just">
              <a:buFont typeface="Arial" panose="020B0604020202020204" pitchFamily="34" charset="0"/>
              <a:buChar char="•"/>
            </a:pPr>
            <a:r>
              <a:rPr lang="pt-BR" sz="2000" b="1" dirty="0"/>
              <a:t>Previsão:</a:t>
            </a:r>
            <a:r>
              <a:rPr lang="pt-BR" sz="2000" dirty="0"/>
              <a:t> Um dos principais objetivos da análise de séries temporais é fazer previsões precisas com base nos padrões identificados nos dados históricos</a:t>
            </a:r>
            <a:endParaRPr lang="pt-BR" sz="2000" dirty="0">
              <a:cs typeface="Arial" panose="020B0604020202020204" pitchFamily="34" charset="0"/>
            </a:endParaRPr>
          </a:p>
        </p:txBody>
      </p:sp>
      <p:sp>
        <p:nvSpPr>
          <p:cNvPr id="18435" name="Text Box 4">
            <a:extLst>
              <a:ext uri="{FF2B5EF4-FFF2-40B4-BE49-F238E27FC236}">
                <a16:creationId xmlns:a16="http://schemas.microsoft.com/office/drawing/2014/main" id="{60AC8784-74A4-1AEF-9873-E06A27E01EA2}"/>
              </a:ext>
            </a:extLst>
          </p:cNvPr>
          <p:cNvSpPr txBox="1">
            <a:spLocks noChangeArrowheads="1"/>
          </p:cNvSpPr>
          <p:nvPr/>
        </p:nvSpPr>
        <p:spPr bwMode="auto">
          <a:xfrm>
            <a:off x="839159" y="158447"/>
            <a:ext cx="762127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Etapas da Análise de Séries Temporais</a:t>
            </a:r>
          </a:p>
        </p:txBody>
      </p:sp>
      <p:sp>
        <p:nvSpPr>
          <p:cNvPr id="2" name="Retângulo 1">
            <a:extLst>
              <a:ext uri="{FF2B5EF4-FFF2-40B4-BE49-F238E27FC236}">
                <a16:creationId xmlns:a16="http://schemas.microsoft.com/office/drawing/2014/main" id="{660BE5B3-F139-71FD-91D4-99B019CF4502}"/>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24216296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90F91-68DF-9E79-194E-90F4EACB80EB}"/>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48D2F88A-BAEF-611A-A207-E0A46E42EE68}"/>
              </a:ext>
            </a:extLst>
          </p:cNvPr>
          <p:cNvSpPr>
            <a:spLocks noChangeArrowheads="1"/>
          </p:cNvSpPr>
          <p:nvPr/>
        </p:nvSpPr>
        <p:spPr bwMode="auto">
          <a:xfrm>
            <a:off x="254899" y="771550"/>
            <a:ext cx="8657706" cy="3490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lvl="0" indent="-285750" algn="just">
              <a:buFont typeface="Arial" panose="020B0604020202020204" pitchFamily="34" charset="0"/>
              <a:buChar char="•"/>
            </a:pPr>
            <a:r>
              <a:rPr lang="pt-BR" sz="2400" b="1" dirty="0"/>
              <a:t>Tendência:</a:t>
            </a:r>
            <a:r>
              <a:rPr lang="pt-BR" sz="2400" dirty="0"/>
              <a:t> Indica uma direção geral ou movimento dos dados ao longo do tempo. Pode ser ascendente, descendente ou estável.</a:t>
            </a:r>
          </a:p>
          <a:p>
            <a:pPr marL="285750" lvl="0" indent="-285750" algn="just">
              <a:buFont typeface="Arial" panose="020B0604020202020204" pitchFamily="34" charset="0"/>
              <a:buChar char="•"/>
            </a:pPr>
            <a:r>
              <a:rPr lang="pt-BR" sz="2400" b="1" dirty="0"/>
              <a:t>Sazonalidade:</a:t>
            </a:r>
            <a:r>
              <a:rPr lang="pt-BR" sz="2400" dirty="0"/>
              <a:t> Padrões que se repetem em intervalos regulares, como variações diárias, mensais ou anuais.</a:t>
            </a:r>
          </a:p>
          <a:p>
            <a:pPr marL="285750" lvl="0" indent="-285750" algn="just">
              <a:buFont typeface="Arial" panose="020B0604020202020204" pitchFamily="34" charset="0"/>
              <a:buChar char="•"/>
            </a:pPr>
            <a:r>
              <a:rPr lang="pt-BR" sz="2400" b="1" dirty="0"/>
              <a:t>Ciclos:</a:t>
            </a:r>
            <a:r>
              <a:rPr lang="pt-BR" sz="2400" dirty="0"/>
              <a:t> Flutuações não regulares que não se encaixam na sazonalidade, muitas vezes ligadas a condições econômicas.</a:t>
            </a:r>
          </a:p>
          <a:p>
            <a:pPr marL="285750" lvl="0" indent="-285750" algn="just">
              <a:buFont typeface="Arial" panose="020B0604020202020204" pitchFamily="34" charset="0"/>
              <a:buChar char="•"/>
            </a:pPr>
            <a:r>
              <a:rPr lang="pt-BR" sz="2400" b="1" dirty="0" err="1"/>
              <a:t>Iregularidade</a:t>
            </a:r>
            <a:r>
              <a:rPr lang="pt-BR" sz="2400" b="1" dirty="0"/>
              <a:t>:</a:t>
            </a:r>
            <a:r>
              <a:rPr lang="pt-BR" sz="2400" dirty="0"/>
              <a:t> Componente imprevisível que resulta de eventos aleatórios ou flutuações inexplicáveis.</a:t>
            </a:r>
          </a:p>
        </p:txBody>
      </p:sp>
      <p:sp>
        <p:nvSpPr>
          <p:cNvPr id="18435" name="Text Box 4">
            <a:extLst>
              <a:ext uri="{FF2B5EF4-FFF2-40B4-BE49-F238E27FC236}">
                <a16:creationId xmlns:a16="http://schemas.microsoft.com/office/drawing/2014/main" id="{14F2FFC2-27D3-9512-A9A2-46C1B3E0AD8A}"/>
              </a:ext>
            </a:extLst>
          </p:cNvPr>
          <p:cNvSpPr txBox="1">
            <a:spLocks noChangeArrowheads="1"/>
          </p:cNvSpPr>
          <p:nvPr/>
        </p:nvSpPr>
        <p:spPr bwMode="auto">
          <a:xfrm>
            <a:off x="839159" y="158447"/>
            <a:ext cx="769328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Componentes das Séries Temporais</a:t>
            </a:r>
          </a:p>
        </p:txBody>
      </p:sp>
      <p:sp>
        <p:nvSpPr>
          <p:cNvPr id="2" name="Retângulo 1">
            <a:extLst>
              <a:ext uri="{FF2B5EF4-FFF2-40B4-BE49-F238E27FC236}">
                <a16:creationId xmlns:a16="http://schemas.microsoft.com/office/drawing/2014/main" id="{D928477C-3384-455F-1485-83DCACD15ED9}"/>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46923541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FCC31-6957-91E8-DF95-F68D8FA3215F}"/>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3DBCDF88-31E9-3A16-0313-618F5AB91A3A}"/>
              </a:ext>
            </a:extLst>
          </p:cNvPr>
          <p:cNvSpPr>
            <a:spLocks noChangeArrowheads="1"/>
          </p:cNvSpPr>
          <p:nvPr/>
        </p:nvSpPr>
        <p:spPr bwMode="auto">
          <a:xfrm>
            <a:off x="395536" y="792178"/>
            <a:ext cx="8657706" cy="39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lvl="0" indent="-285750" algn="just">
              <a:buFont typeface="Arial" panose="020B0604020202020204" pitchFamily="34" charset="0"/>
              <a:buChar char="•"/>
            </a:pPr>
            <a:r>
              <a:rPr lang="pt-BR" sz="2000" b="1" dirty="0"/>
              <a:t>Gráficos de Linha</a:t>
            </a:r>
            <a:r>
              <a:rPr lang="pt-BR" sz="2000" dirty="0"/>
              <a:t>: São a forma mais comum de visualizar séries temporais, representando a evolução de um valor ao longo do tempo. Eles são particularmente úteis para identificar tendências, ciclos e variações sazonais.</a:t>
            </a:r>
          </a:p>
          <a:p>
            <a:pPr marL="285750" lvl="0" indent="-285750" algn="just">
              <a:buFont typeface="Arial" panose="020B0604020202020204" pitchFamily="34" charset="0"/>
              <a:buChar char="•"/>
            </a:pPr>
            <a:r>
              <a:rPr lang="pt-BR" sz="2000" b="1" dirty="0"/>
              <a:t>Gráficos de Área</a:t>
            </a:r>
            <a:r>
              <a:rPr lang="pt-BR" sz="2000" dirty="0"/>
              <a:t>: Semelhantes aos gráficos de linha, mas com a área abaixo da linha preenchida. Eles são úteis para destacar a magnitude das variações ao longo do tempo, especialmente quando comparando várias séries temporais simultaneamente.</a:t>
            </a:r>
          </a:p>
          <a:p>
            <a:pPr marL="285750" lvl="0" indent="-285750" algn="just">
              <a:buFont typeface="Arial" panose="020B0604020202020204" pitchFamily="34" charset="0"/>
              <a:buChar char="•"/>
            </a:pPr>
            <a:r>
              <a:rPr lang="pt-BR" sz="2000" b="1" dirty="0"/>
              <a:t>Gráficos de Barras e Colunas</a:t>
            </a:r>
            <a:r>
              <a:rPr lang="pt-BR" sz="2000" dirty="0"/>
              <a:t>: Podem ser usados para comparar os valores de diferentes períodos de tempo ou categorias, facilitando a visualização de diferenças e tendências. Gráficos de barras são particularmente úteis para séries temporais com dados discretos ou categorias específicas.</a:t>
            </a:r>
          </a:p>
        </p:txBody>
      </p:sp>
      <p:sp>
        <p:nvSpPr>
          <p:cNvPr id="18435" name="Text Box 4">
            <a:extLst>
              <a:ext uri="{FF2B5EF4-FFF2-40B4-BE49-F238E27FC236}">
                <a16:creationId xmlns:a16="http://schemas.microsoft.com/office/drawing/2014/main" id="{AFF56E90-CBB0-F978-9EE5-CFF34C14EDC3}"/>
              </a:ext>
            </a:extLst>
          </p:cNvPr>
          <p:cNvSpPr txBox="1">
            <a:spLocks noChangeArrowheads="1"/>
          </p:cNvSpPr>
          <p:nvPr/>
        </p:nvSpPr>
        <p:spPr bwMode="auto">
          <a:xfrm>
            <a:off x="839159" y="158447"/>
            <a:ext cx="762127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Visualização de Séries Temporais</a:t>
            </a:r>
          </a:p>
        </p:txBody>
      </p:sp>
      <p:sp>
        <p:nvSpPr>
          <p:cNvPr id="2" name="Retângulo 1">
            <a:extLst>
              <a:ext uri="{FF2B5EF4-FFF2-40B4-BE49-F238E27FC236}">
                <a16:creationId xmlns:a16="http://schemas.microsoft.com/office/drawing/2014/main" id="{13DE71D7-B35A-DA08-42C6-16617110C6A8}"/>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186780442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11FFC-8C26-3F03-BB28-3CDAACB2FAE2}"/>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A107D259-917D-D93F-87CB-E6387A7BC87C}"/>
              </a:ext>
            </a:extLst>
          </p:cNvPr>
          <p:cNvSpPr>
            <a:spLocks noChangeArrowheads="1"/>
          </p:cNvSpPr>
          <p:nvPr/>
        </p:nvSpPr>
        <p:spPr bwMode="auto">
          <a:xfrm>
            <a:off x="395536" y="699542"/>
            <a:ext cx="8657706" cy="410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lvl="0" indent="-285750">
              <a:buFont typeface="Arial" panose="020B0604020202020204" pitchFamily="34" charset="0"/>
              <a:buChar char="•"/>
            </a:pPr>
            <a:endParaRPr lang="pt-BR" sz="2000" dirty="0"/>
          </a:p>
          <a:p>
            <a:pPr marL="285750" lvl="0" indent="-285750" algn="just">
              <a:buFont typeface="Arial" panose="020B0604020202020204" pitchFamily="34" charset="0"/>
              <a:buChar char="•"/>
            </a:pPr>
            <a:r>
              <a:rPr lang="pt-BR" sz="2000" b="1" dirty="0"/>
              <a:t>Gráficos de Dispersão Temporal</a:t>
            </a:r>
            <a:r>
              <a:rPr lang="pt-BR" sz="2000" dirty="0"/>
              <a:t>: Utilizados para explorar a relação entre duas variáveis ao longo do tempo, ajudando a identificar correlações e padrões não lineares entre as variáveis.</a:t>
            </a:r>
            <a:endParaRPr lang="pt-BR" sz="2000" b="1" dirty="0"/>
          </a:p>
          <a:p>
            <a:pPr marL="342900" lvl="0" indent="-342900" algn="just">
              <a:buFont typeface="Arial" panose="020B0604020202020204" pitchFamily="34" charset="0"/>
              <a:buChar char="•"/>
            </a:pPr>
            <a:r>
              <a:rPr lang="pt-BR" sz="2000" b="1" dirty="0"/>
              <a:t>Decomposição de Séries Temporais</a:t>
            </a:r>
            <a:r>
              <a:rPr lang="pt-BR" sz="2000" dirty="0"/>
              <a:t>: Visualiza componentes decompostos de uma série temporal, como tendência, sazonalidade e resíduo, ajudando a entender o que impulsiona as variações observadas.</a:t>
            </a:r>
          </a:p>
          <a:p>
            <a:pPr marL="342900" lvl="0" indent="-342900" algn="just">
              <a:buFont typeface="Arial" panose="020B0604020202020204" pitchFamily="34" charset="0"/>
              <a:buChar char="•"/>
            </a:pPr>
            <a:r>
              <a:rPr lang="pt-BR" sz="2000" b="1" dirty="0" err="1"/>
              <a:t>Plot</a:t>
            </a:r>
            <a:r>
              <a:rPr lang="pt-BR" sz="2000" b="1" dirty="0"/>
              <a:t> de </a:t>
            </a:r>
            <a:r>
              <a:rPr lang="pt-BR" sz="2000" b="1" dirty="0" err="1"/>
              <a:t>Lag</a:t>
            </a:r>
            <a:r>
              <a:rPr lang="pt-BR" sz="2000" dirty="0"/>
              <a:t>: Permitem analisar a autocorrelação em séries temporais, comparando o valor da série em um ponto no tempo com seus valores em pontos anteriores (</a:t>
            </a:r>
            <a:r>
              <a:rPr lang="pt-BR" sz="2000" dirty="0" err="1"/>
              <a:t>lags</a:t>
            </a:r>
            <a:r>
              <a:rPr lang="pt-BR" sz="2000" dirty="0"/>
              <a:t>), útil para identificar padrões repetitivos ou sazonais.</a:t>
            </a:r>
          </a:p>
        </p:txBody>
      </p:sp>
      <p:sp>
        <p:nvSpPr>
          <p:cNvPr id="18435" name="Text Box 4">
            <a:extLst>
              <a:ext uri="{FF2B5EF4-FFF2-40B4-BE49-F238E27FC236}">
                <a16:creationId xmlns:a16="http://schemas.microsoft.com/office/drawing/2014/main" id="{07BEE921-5400-A296-9489-749CAEAE22AA}"/>
              </a:ext>
            </a:extLst>
          </p:cNvPr>
          <p:cNvSpPr txBox="1">
            <a:spLocks noChangeArrowheads="1"/>
          </p:cNvSpPr>
          <p:nvPr/>
        </p:nvSpPr>
        <p:spPr bwMode="auto">
          <a:xfrm>
            <a:off x="839159" y="158447"/>
            <a:ext cx="762127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Visualização de Séries Temporais</a:t>
            </a:r>
          </a:p>
        </p:txBody>
      </p:sp>
      <p:sp>
        <p:nvSpPr>
          <p:cNvPr id="2" name="Retângulo 1">
            <a:extLst>
              <a:ext uri="{FF2B5EF4-FFF2-40B4-BE49-F238E27FC236}">
                <a16:creationId xmlns:a16="http://schemas.microsoft.com/office/drawing/2014/main" id="{230B67A3-BA0B-5F58-865B-1EA74891B577}"/>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254058575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F7FC8-A819-C978-D36E-128EFA2FEC07}"/>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8B04CE1C-8347-F458-D54C-D709A584959D}"/>
              </a:ext>
            </a:extLst>
          </p:cNvPr>
          <p:cNvSpPr>
            <a:spLocks noChangeArrowheads="1"/>
          </p:cNvSpPr>
          <p:nvPr/>
        </p:nvSpPr>
        <p:spPr bwMode="auto">
          <a:xfrm>
            <a:off x="395536" y="699542"/>
            <a:ext cx="8657706" cy="410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lvl="0" indent="-285750" algn="just">
              <a:buFont typeface="Arial" panose="020B0604020202020204" pitchFamily="34" charset="0"/>
              <a:buChar char="•"/>
            </a:pPr>
            <a:endParaRPr lang="pt-BR" sz="2000" dirty="0"/>
          </a:p>
          <a:p>
            <a:pPr marL="342900" lvl="0" indent="-342900" algn="just">
              <a:buFont typeface="Arial" panose="020B0604020202020204" pitchFamily="34" charset="0"/>
              <a:buChar char="•"/>
            </a:pPr>
            <a:r>
              <a:rPr lang="pt-BR" sz="2000" b="1" dirty="0" err="1"/>
              <a:t>Correlogramas</a:t>
            </a:r>
            <a:r>
              <a:rPr lang="pt-BR" sz="2000" dirty="0"/>
              <a:t>: Gráficos que mostram a autocorrelação de uma série temporal com </a:t>
            </a:r>
            <a:r>
              <a:rPr lang="pt-BR" sz="2000" dirty="0" err="1"/>
              <a:t>lags</a:t>
            </a:r>
            <a:r>
              <a:rPr lang="pt-BR" sz="2000" dirty="0"/>
              <a:t> de si mesma ao longo de vários períodos de tempo, permitindo identificar regularidades ou padrões periódicos nos dados.</a:t>
            </a:r>
          </a:p>
        </p:txBody>
      </p:sp>
      <p:sp>
        <p:nvSpPr>
          <p:cNvPr id="18435" name="Text Box 4">
            <a:extLst>
              <a:ext uri="{FF2B5EF4-FFF2-40B4-BE49-F238E27FC236}">
                <a16:creationId xmlns:a16="http://schemas.microsoft.com/office/drawing/2014/main" id="{7AFEE9A0-3A7B-0C0A-F17A-AD21C0A5EA10}"/>
              </a:ext>
            </a:extLst>
          </p:cNvPr>
          <p:cNvSpPr txBox="1">
            <a:spLocks noChangeArrowheads="1"/>
          </p:cNvSpPr>
          <p:nvPr/>
        </p:nvSpPr>
        <p:spPr bwMode="auto">
          <a:xfrm>
            <a:off x="839159" y="158447"/>
            <a:ext cx="762127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Visualização de Séries Temporais</a:t>
            </a:r>
          </a:p>
        </p:txBody>
      </p:sp>
      <p:sp>
        <p:nvSpPr>
          <p:cNvPr id="2" name="Retângulo 1">
            <a:extLst>
              <a:ext uri="{FF2B5EF4-FFF2-40B4-BE49-F238E27FC236}">
                <a16:creationId xmlns:a16="http://schemas.microsoft.com/office/drawing/2014/main" id="{6E50E646-B48E-A5A3-E3C8-8D8E9C855B7C}"/>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257919103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9BEEBF-0747-D5A2-B5EE-AF0AC5B13F0E}"/>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2039DE8B-EE9A-32FD-AA3D-E637ACE2CB7E}"/>
              </a:ext>
            </a:extLst>
          </p:cNvPr>
          <p:cNvSpPr>
            <a:spLocks noChangeArrowheads="1"/>
          </p:cNvSpPr>
          <p:nvPr/>
        </p:nvSpPr>
        <p:spPr bwMode="auto">
          <a:xfrm>
            <a:off x="323528" y="792178"/>
            <a:ext cx="8657706" cy="4011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b="1" dirty="0"/>
              <a:t>Séries Estacionárias</a:t>
            </a:r>
            <a:endParaRPr lang="pt-BR" sz="2000" dirty="0"/>
          </a:p>
          <a:p>
            <a:pPr algn="just"/>
            <a:r>
              <a:rPr lang="pt-BR" sz="2000" dirty="0"/>
              <a:t>Uma série temporal é considerada estacionária quando suas propriedades estatísticas, como média, variância e autocorrelação, permanecem constantes ao longo do tempo.</a:t>
            </a:r>
          </a:p>
          <a:p>
            <a:pPr algn="just"/>
            <a:r>
              <a:rPr lang="pt-BR" sz="2000" dirty="0"/>
              <a:t>Em séries estacionárias nós temos:</a:t>
            </a:r>
          </a:p>
          <a:p>
            <a:pPr marL="342900" lvl="0" indent="-342900" algn="just">
              <a:buFont typeface="Arial" panose="020B0604020202020204" pitchFamily="34" charset="0"/>
              <a:buChar char="•"/>
            </a:pPr>
            <a:r>
              <a:rPr lang="pt-BR" sz="2000" b="1" dirty="0"/>
              <a:t>Média Constante:</a:t>
            </a:r>
            <a:r>
              <a:rPr lang="pt-BR" sz="2000" dirty="0"/>
              <a:t> A média da série não muda ao longo do tempo.</a:t>
            </a:r>
          </a:p>
          <a:p>
            <a:pPr marL="342900" lvl="0" indent="-342900" algn="just">
              <a:buFont typeface="Arial" panose="020B0604020202020204" pitchFamily="34" charset="0"/>
              <a:buChar char="•"/>
            </a:pPr>
            <a:r>
              <a:rPr lang="pt-BR" sz="2000" b="1" dirty="0"/>
              <a:t>Variância Constante:</a:t>
            </a:r>
            <a:r>
              <a:rPr lang="pt-BR" sz="2000" dirty="0"/>
              <a:t> O nível de flutuação em torno da média (variância) permanece o mesmo ao longo do tempo. Não há períodos de volatilidade aumentada ou diminuída.</a:t>
            </a:r>
          </a:p>
          <a:p>
            <a:pPr marL="342900" lvl="0" indent="-342900" algn="just">
              <a:buFont typeface="Arial" panose="020B0604020202020204" pitchFamily="34" charset="0"/>
              <a:buChar char="•"/>
            </a:pPr>
            <a:r>
              <a:rPr lang="pt-BR" sz="2000" b="1" dirty="0"/>
              <a:t>Autocorrelação Constante:</a:t>
            </a:r>
            <a:r>
              <a:rPr lang="pt-BR" sz="2000" dirty="0"/>
              <a:t> A relação (correlação) entre os valores atuais e os valores passados permanece constante ao longo do tempo.</a:t>
            </a:r>
          </a:p>
          <a:p>
            <a:pPr algn="just"/>
            <a:r>
              <a:rPr lang="pt-BR" sz="2000" dirty="0"/>
              <a:t>Séries estacionárias são mais fáceis de analisar e modelar, pois sua estrutura estável facilita a previsão</a:t>
            </a:r>
          </a:p>
        </p:txBody>
      </p:sp>
      <p:sp>
        <p:nvSpPr>
          <p:cNvPr id="18435" name="Text Box 4">
            <a:extLst>
              <a:ext uri="{FF2B5EF4-FFF2-40B4-BE49-F238E27FC236}">
                <a16:creationId xmlns:a16="http://schemas.microsoft.com/office/drawing/2014/main" id="{167E4207-D44B-C267-F0C2-49F93DC65392}"/>
              </a:ext>
            </a:extLst>
          </p:cNvPr>
          <p:cNvSpPr txBox="1">
            <a:spLocks noChangeArrowheads="1"/>
          </p:cNvSpPr>
          <p:nvPr/>
        </p:nvSpPr>
        <p:spPr bwMode="auto">
          <a:xfrm>
            <a:off x="839159" y="158447"/>
            <a:ext cx="754926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 Estatísticos</a:t>
            </a:r>
          </a:p>
        </p:txBody>
      </p:sp>
      <p:sp>
        <p:nvSpPr>
          <p:cNvPr id="2" name="Retângulo 1">
            <a:extLst>
              <a:ext uri="{FF2B5EF4-FFF2-40B4-BE49-F238E27FC236}">
                <a16:creationId xmlns:a16="http://schemas.microsoft.com/office/drawing/2014/main" id="{AAAF3648-6047-3D9B-1D1C-346C9528381E}"/>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271323542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716D-CD3D-1311-C3A3-3713C9819C13}"/>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DA35110C-1553-AC60-DE36-F701BDC7E4BE}"/>
              </a:ext>
            </a:extLst>
          </p:cNvPr>
          <p:cNvSpPr>
            <a:spLocks noChangeArrowheads="1"/>
          </p:cNvSpPr>
          <p:nvPr/>
        </p:nvSpPr>
        <p:spPr bwMode="auto">
          <a:xfrm>
            <a:off x="323528" y="792178"/>
            <a:ext cx="8657706" cy="4011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1900" b="1" dirty="0"/>
              <a:t>Séries Não Estacionárias</a:t>
            </a:r>
            <a:endParaRPr lang="pt-BR" sz="1900" dirty="0"/>
          </a:p>
          <a:p>
            <a:pPr algn="just"/>
            <a:r>
              <a:rPr lang="pt-BR" sz="1900" dirty="0"/>
              <a:t>Uma série temporal é não estacionária quando suas propriedades estatísticas mudam ao longo do tempo. Características de séries não estacionárias incluem:</a:t>
            </a:r>
          </a:p>
          <a:p>
            <a:pPr marL="342900" lvl="0" indent="-342900" algn="just">
              <a:buFont typeface="Arial" panose="020B0604020202020204" pitchFamily="34" charset="0"/>
              <a:buChar char="•"/>
            </a:pPr>
            <a:r>
              <a:rPr lang="pt-BR" sz="1900" b="1" dirty="0"/>
              <a:t>Média Variável:</a:t>
            </a:r>
            <a:r>
              <a:rPr lang="pt-BR" sz="1900" dirty="0"/>
              <a:t> A média da série muda ao longo do tempo, o que pode indicar a presença de uma tendência.</a:t>
            </a:r>
          </a:p>
          <a:p>
            <a:pPr marL="342900" lvl="0" indent="-342900" algn="just">
              <a:buFont typeface="Arial" panose="020B0604020202020204" pitchFamily="34" charset="0"/>
              <a:buChar char="•"/>
            </a:pPr>
            <a:r>
              <a:rPr lang="pt-BR" sz="1900" b="1" dirty="0"/>
              <a:t>Variância Variável:</a:t>
            </a:r>
            <a:r>
              <a:rPr lang="pt-BR" sz="1900" dirty="0"/>
              <a:t> A variância pode aumentar ou diminuir ao longo do tempo. Isso pode ser visto em séries com volatilidade crescente.</a:t>
            </a:r>
          </a:p>
          <a:p>
            <a:pPr marL="342900" lvl="0" indent="-342900" algn="just">
              <a:buFont typeface="Arial" panose="020B0604020202020204" pitchFamily="34" charset="0"/>
              <a:buChar char="•"/>
            </a:pPr>
            <a:r>
              <a:rPr lang="pt-BR" sz="1900" b="1" dirty="0"/>
              <a:t>Autocorrelação Variável:</a:t>
            </a:r>
            <a:r>
              <a:rPr lang="pt-BR" sz="1900" dirty="0"/>
              <a:t> A relação entre valores atuais e passados muda ao longo do tempo, o que pode tornar a modelagem mais desafiadora.</a:t>
            </a:r>
          </a:p>
          <a:p>
            <a:pPr algn="just"/>
            <a:r>
              <a:rPr lang="pt-BR" sz="1900" dirty="0"/>
              <a:t>As séries não estacionárias são mais comuns em dados do mundo real e geralmente requerem transformações, como diferenciação ou log-transformação, para torná-las estacionárias antes da análise e modelagem.</a:t>
            </a:r>
          </a:p>
        </p:txBody>
      </p:sp>
      <p:sp>
        <p:nvSpPr>
          <p:cNvPr id="18435" name="Text Box 4">
            <a:extLst>
              <a:ext uri="{FF2B5EF4-FFF2-40B4-BE49-F238E27FC236}">
                <a16:creationId xmlns:a16="http://schemas.microsoft.com/office/drawing/2014/main" id="{C31363EC-0AA2-28DD-B17C-EC8E1FC074CF}"/>
              </a:ext>
            </a:extLst>
          </p:cNvPr>
          <p:cNvSpPr txBox="1">
            <a:spLocks noChangeArrowheads="1"/>
          </p:cNvSpPr>
          <p:nvPr/>
        </p:nvSpPr>
        <p:spPr bwMode="auto">
          <a:xfrm>
            <a:off x="839159" y="158447"/>
            <a:ext cx="754926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 Estatísticos</a:t>
            </a:r>
          </a:p>
        </p:txBody>
      </p:sp>
      <p:sp>
        <p:nvSpPr>
          <p:cNvPr id="2" name="Retângulo 1">
            <a:extLst>
              <a:ext uri="{FF2B5EF4-FFF2-40B4-BE49-F238E27FC236}">
                <a16:creationId xmlns:a16="http://schemas.microsoft.com/office/drawing/2014/main" id="{FF4830AB-F92E-097A-31E3-B35BF6712A64}"/>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52318924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9905E-B8D9-E67E-F73E-B35F0D02A14A}"/>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D95574ED-BBD4-425A-5E88-EB68F91009FE}"/>
              </a:ext>
            </a:extLst>
          </p:cNvPr>
          <p:cNvSpPr>
            <a:spLocks noChangeArrowheads="1"/>
          </p:cNvSpPr>
          <p:nvPr/>
        </p:nvSpPr>
        <p:spPr bwMode="auto">
          <a:xfrm>
            <a:off x="323528" y="792178"/>
            <a:ext cx="8657706" cy="4011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1900" b="1" dirty="0"/>
              <a:t>Média Móvel (Moving </a:t>
            </a:r>
            <a:r>
              <a:rPr lang="pt-BR" sz="1900" b="1" dirty="0" err="1"/>
              <a:t>Average</a:t>
            </a:r>
            <a:r>
              <a:rPr lang="pt-BR" sz="1900" b="1" dirty="0"/>
              <a:t> - MA)</a:t>
            </a:r>
            <a:endParaRPr lang="pt-BR" sz="1900" dirty="0"/>
          </a:p>
          <a:p>
            <a:pPr algn="just"/>
            <a:r>
              <a:rPr lang="pt-BR" sz="1900" dirty="0"/>
              <a:t>A Média Móvel é uma técnica que calcula a média de um conjunto de valores dentro de uma janela de tempo específica, que se move ao longo da série temporal. Por exemplo, em uma média móvel simples de 7 dias, o valor de cada ponto na série suavizada é calculado como a média dos valores dos 7 dias anteriores, incluindo o dia atual. Esse processo é repetido ao longo de toda a série temporal, movendo a janela de cálculo passo a passo.</a:t>
            </a:r>
          </a:p>
          <a:p>
            <a:pPr algn="just"/>
            <a:r>
              <a:rPr lang="pt-BR" sz="1900" b="1" dirty="0"/>
              <a:t>Vantagens:</a:t>
            </a:r>
            <a:r>
              <a:rPr lang="pt-BR" sz="1900" dirty="0"/>
              <a:t> Simples de entender e implementar; eficaz para suavizar dados e identificar tendências de longo prazo.</a:t>
            </a:r>
          </a:p>
          <a:p>
            <a:pPr algn="just"/>
            <a:r>
              <a:rPr lang="pt-BR" sz="1900" b="1" dirty="0"/>
              <a:t>Desvantagens:</a:t>
            </a:r>
            <a:r>
              <a:rPr lang="pt-BR" sz="1900" dirty="0"/>
              <a:t> Sensível ao tamanho da janela escolhida; os pontos no início da série (onde uma janela completa não está disponível) não podem ser calculados, e todos os pontos na janela têm o mesmo peso, o que pode não ser ideal para todas as aplicações.</a:t>
            </a:r>
          </a:p>
        </p:txBody>
      </p:sp>
      <p:sp>
        <p:nvSpPr>
          <p:cNvPr id="18435" name="Text Box 4">
            <a:extLst>
              <a:ext uri="{FF2B5EF4-FFF2-40B4-BE49-F238E27FC236}">
                <a16:creationId xmlns:a16="http://schemas.microsoft.com/office/drawing/2014/main" id="{B99DFD3E-2B28-D43E-487F-56CC2964368C}"/>
              </a:ext>
            </a:extLst>
          </p:cNvPr>
          <p:cNvSpPr txBox="1">
            <a:spLocks noChangeArrowheads="1"/>
          </p:cNvSpPr>
          <p:nvPr/>
        </p:nvSpPr>
        <p:spPr bwMode="auto">
          <a:xfrm>
            <a:off x="839159" y="158447"/>
            <a:ext cx="754926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 Estatísticos</a:t>
            </a:r>
          </a:p>
        </p:txBody>
      </p:sp>
      <p:sp>
        <p:nvSpPr>
          <p:cNvPr id="2" name="Retângulo 1">
            <a:extLst>
              <a:ext uri="{FF2B5EF4-FFF2-40B4-BE49-F238E27FC236}">
                <a16:creationId xmlns:a16="http://schemas.microsoft.com/office/drawing/2014/main" id="{07AF7C58-654E-C9D6-7221-DA4C4F1CCA38}"/>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178725897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2D80C-08E3-68E1-AB58-E4DD0B962CE0}"/>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75119690-E1D4-810D-A799-9ECC8036E096}"/>
              </a:ext>
            </a:extLst>
          </p:cNvPr>
          <p:cNvSpPr>
            <a:spLocks noChangeArrowheads="1"/>
          </p:cNvSpPr>
          <p:nvPr/>
        </p:nvSpPr>
        <p:spPr bwMode="auto">
          <a:xfrm>
            <a:off x="323528" y="792178"/>
            <a:ext cx="8657706" cy="4011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b="1" dirty="0"/>
              <a:t>Média Móvel Ponderada (</a:t>
            </a:r>
            <a:r>
              <a:rPr lang="pt-BR" sz="2000" b="1" dirty="0" err="1"/>
              <a:t>Weighted</a:t>
            </a:r>
            <a:r>
              <a:rPr lang="pt-BR" sz="2000" b="1" dirty="0"/>
              <a:t> Moving </a:t>
            </a:r>
            <a:r>
              <a:rPr lang="pt-BR" sz="2000" b="1" dirty="0" err="1"/>
              <a:t>Average</a:t>
            </a:r>
            <a:r>
              <a:rPr lang="pt-BR" sz="2000" b="1" dirty="0"/>
              <a:t> - WMA)</a:t>
            </a:r>
            <a:endParaRPr lang="pt-BR" sz="2000" dirty="0"/>
          </a:p>
          <a:p>
            <a:pPr algn="just"/>
            <a:r>
              <a:rPr lang="pt-BR" sz="2000" dirty="0"/>
              <a:t>A Média Móvel Ponderada é uma variação da média móvel que atribui pesos diferentes aos valores na janela de cálculo, com pesos geralmente diminuindo para valores mais antigos. Isso significa que valores mais recentes têm mais influência na média do que valores mais antigos. A soma dos pesos geralmente é igual a 1 (ou 100%, se expresso em percentagem).</a:t>
            </a:r>
          </a:p>
          <a:p>
            <a:pPr algn="just"/>
            <a:r>
              <a:rPr lang="pt-BR" sz="2000" b="1" dirty="0"/>
              <a:t>Vantagens:</a:t>
            </a:r>
            <a:r>
              <a:rPr lang="pt-BR" sz="2000" dirty="0"/>
              <a:t> Permite uma suavização mais personalizável que pode refletir melhor a importância relativa de dados mais recentes, tornando-a mais responsiva a mudanças recentes nos dados.</a:t>
            </a:r>
          </a:p>
          <a:p>
            <a:pPr algn="just"/>
            <a:r>
              <a:rPr lang="pt-BR" sz="2000" b="1" dirty="0"/>
              <a:t>Desvantagens:</a:t>
            </a:r>
            <a:r>
              <a:rPr lang="pt-BR" sz="2000" dirty="0"/>
              <a:t> Mais complexa para calcular e implementar do que a média móvel simples; a escolha dos pesos pode ser subjetiva e requer ajuste baseado no conhecimento específico do contexto da série temporal.</a:t>
            </a:r>
          </a:p>
        </p:txBody>
      </p:sp>
      <p:sp>
        <p:nvSpPr>
          <p:cNvPr id="18435" name="Text Box 4">
            <a:extLst>
              <a:ext uri="{FF2B5EF4-FFF2-40B4-BE49-F238E27FC236}">
                <a16:creationId xmlns:a16="http://schemas.microsoft.com/office/drawing/2014/main" id="{5BBA5256-FFCC-7D4C-517B-9F55C12E1575}"/>
              </a:ext>
            </a:extLst>
          </p:cNvPr>
          <p:cNvSpPr txBox="1">
            <a:spLocks noChangeArrowheads="1"/>
          </p:cNvSpPr>
          <p:nvPr/>
        </p:nvSpPr>
        <p:spPr bwMode="auto">
          <a:xfrm>
            <a:off x="839159" y="158447"/>
            <a:ext cx="754926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 Estatísticos</a:t>
            </a:r>
          </a:p>
        </p:txBody>
      </p:sp>
      <p:sp>
        <p:nvSpPr>
          <p:cNvPr id="2" name="Retângulo 1">
            <a:extLst>
              <a:ext uri="{FF2B5EF4-FFF2-40B4-BE49-F238E27FC236}">
                <a16:creationId xmlns:a16="http://schemas.microsoft.com/office/drawing/2014/main" id="{69EC47FB-DF90-49A1-7E8E-DA3F06F8C19C}"/>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394268466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11BF5-B55E-4A9F-07ED-2007BC0DA5B3}"/>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64352712-66F6-4BBF-B8DA-A19F2DE75ACD}"/>
              </a:ext>
            </a:extLst>
          </p:cNvPr>
          <p:cNvSpPr>
            <a:spLocks noChangeArrowheads="1"/>
          </p:cNvSpPr>
          <p:nvPr/>
        </p:nvSpPr>
        <p:spPr bwMode="auto">
          <a:xfrm>
            <a:off x="323528" y="792178"/>
            <a:ext cx="8657706" cy="4011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b="1" dirty="0"/>
              <a:t>Autocorrelação (ACF - </a:t>
            </a:r>
            <a:r>
              <a:rPr lang="pt-BR" sz="2000" b="1" dirty="0" err="1"/>
              <a:t>Autocorrelation</a:t>
            </a:r>
            <a:r>
              <a:rPr lang="pt-BR" sz="2000" b="1" dirty="0"/>
              <a:t> </a:t>
            </a:r>
            <a:r>
              <a:rPr lang="pt-BR" sz="2000" b="1" dirty="0" err="1"/>
              <a:t>Function</a:t>
            </a:r>
            <a:r>
              <a:rPr lang="pt-BR" sz="2000" b="1" dirty="0"/>
              <a:t>)</a:t>
            </a:r>
            <a:endParaRPr lang="pt-BR" sz="2000" dirty="0"/>
          </a:p>
          <a:p>
            <a:pPr algn="just"/>
            <a:r>
              <a:rPr lang="pt-BR" sz="2000" dirty="0"/>
              <a:t>A autocorrelação, também conhecida como função de autocorrelação (ACF), mede a correlação de uma série temporal com suas próprias versões defasadas (</a:t>
            </a:r>
            <a:r>
              <a:rPr lang="pt-BR" sz="2000" dirty="0" err="1"/>
              <a:t>lagged</a:t>
            </a:r>
            <a:r>
              <a:rPr lang="pt-BR" sz="2000" dirty="0"/>
              <a:t> </a:t>
            </a:r>
            <a:r>
              <a:rPr lang="pt-BR" sz="2000" dirty="0" err="1"/>
              <a:t>versions</a:t>
            </a:r>
            <a:r>
              <a:rPr lang="pt-BR" sz="2000" dirty="0"/>
              <a:t>). Em outras palavras, quantifica o quanto os valores atuais na série temporal são semelhantes aos seus valores anteriores, em diferentes </a:t>
            </a:r>
            <a:r>
              <a:rPr lang="pt-BR" sz="2000" dirty="0" err="1"/>
              <a:t>lags</a:t>
            </a:r>
            <a:r>
              <a:rPr lang="pt-BR" sz="2000" dirty="0"/>
              <a:t> (atrasos). A autocorrelação varia de -1 a 1, onde um valor próximo de 1 indica uma forte correlação positiva, um valor próximo de -1 indica uma forte correlação negativa, e um valor próximo de 0 indica pouca ou nenhuma correlação.</a:t>
            </a:r>
          </a:p>
          <a:p>
            <a:pPr algn="just"/>
            <a:r>
              <a:rPr lang="pt-BR" sz="2000" dirty="0"/>
              <a:t>A autocorrelação é fundamental para identificar se há algum padrão repetitivo ou cíclico em uma série temporal, como sazonalidade ou tendências.</a:t>
            </a:r>
          </a:p>
        </p:txBody>
      </p:sp>
      <p:sp>
        <p:nvSpPr>
          <p:cNvPr id="18435" name="Text Box 4">
            <a:extLst>
              <a:ext uri="{FF2B5EF4-FFF2-40B4-BE49-F238E27FC236}">
                <a16:creationId xmlns:a16="http://schemas.microsoft.com/office/drawing/2014/main" id="{2DE2069C-0313-B7FA-CAF2-9AA9B3B4AD3B}"/>
              </a:ext>
            </a:extLst>
          </p:cNvPr>
          <p:cNvSpPr txBox="1">
            <a:spLocks noChangeArrowheads="1"/>
          </p:cNvSpPr>
          <p:nvPr/>
        </p:nvSpPr>
        <p:spPr bwMode="auto">
          <a:xfrm>
            <a:off x="839159" y="158447"/>
            <a:ext cx="754926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 Estatísticos</a:t>
            </a:r>
          </a:p>
        </p:txBody>
      </p:sp>
      <p:sp>
        <p:nvSpPr>
          <p:cNvPr id="2" name="Retângulo 1">
            <a:extLst>
              <a:ext uri="{FF2B5EF4-FFF2-40B4-BE49-F238E27FC236}">
                <a16:creationId xmlns:a16="http://schemas.microsoft.com/office/drawing/2014/main" id="{BED42D1F-28CC-313A-B6BA-4D97F551D7C4}"/>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42022210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BC8F-AC53-4A4A-D301-3CAEC1159ED6}"/>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A4CD9197-A116-324E-913D-80FDEDCC262E}"/>
              </a:ext>
            </a:extLst>
          </p:cNvPr>
          <p:cNvSpPr>
            <a:spLocks noChangeArrowheads="1"/>
          </p:cNvSpPr>
          <p:nvPr/>
        </p:nvSpPr>
        <p:spPr bwMode="auto">
          <a:xfrm>
            <a:off x="323528" y="792178"/>
            <a:ext cx="8657706" cy="4011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pt-BR" sz="2000" b="1" dirty="0"/>
              <a:t>Autocorrelação Parcial (PACF - </a:t>
            </a:r>
            <a:r>
              <a:rPr lang="pt-BR" sz="2000" b="1" dirty="0" err="1"/>
              <a:t>Partial</a:t>
            </a:r>
            <a:r>
              <a:rPr lang="pt-BR" sz="2000" b="1" dirty="0"/>
              <a:t> </a:t>
            </a:r>
            <a:r>
              <a:rPr lang="pt-BR" sz="2000" b="1" dirty="0" err="1"/>
              <a:t>Autocorrelation</a:t>
            </a:r>
            <a:r>
              <a:rPr lang="pt-BR" sz="2000" b="1" dirty="0"/>
              <a:t> </a:t>
            </a:r>
            <a:r>
              <a:rPr lang="pt-BR" sz="2000" b="1" dirty="0" err="1"/>
              <a:t>Function</a:t>
            </a:r>
            <a:r>
              <a:rPr lang="pt-BR" sz="2000" b="1" dirty="0"/>
              <a:t>)</a:t>
            </a:r>
            <a:endParaRPr lang="pt-BR" sz="2000" dirty="0"/>
          </a:p>
          <a:p>
            <a:pPr algn="just"/>
            <a:r>
              <a:rPr lang="pt-BR" sz="2000" dirty="0"/>
              <a:t>A autocorrelação parcial, ou função de autocorrelação parcial (PACF), mede a correlação entre os valores da série temporal e suas próprias versões defasadas, controlando os efeitos de intervenções de outros </a:t>
            </a:r>
            <a:r>
              <a:rPr lang="pt-BR" sz="2000" dirty="0" err="1"/>
              <a:t>lags</a:t>
            </a:r>
            <a:r>
              <a:rPr lang="pt-BR" sz="2000" dirty="0"/>
              <a:t> intermediários. Em outras palavras, enquanto a ACF considera o efeito combinado de todos os </a:t>
            </a:r>
            <a:r>
              <a:rPr lang="pt-BR" sz="2000" dirty="0" err="1"/>
              <a:t>lags</a:t>
            </a:r>
            <a:r>
              <a:rPr lang="pt-BR" sz="2000" dirty="0"/>
              <a:t> anteriores, a PACF isola o efeito de um </a:t>
            </a:r>
            <a:r>
              <a:rPr lang="pt-BR" sz="2000" dirty="0" err="1"/>
              <a:t>lag</a:t>
            </a:r>
            <a:r>
              <a:rPr lang="pt-BR" sz="2000" dirty="0"/>
              <a:t> específico, desconsiderando os impactos dos </a:t>
            </a:r>
            <a:r>
              <a:rPr lang="pt-BR" sz="2000" dirty="0" err="1"/>
              <a:t>lags</a:t>
            </a:r>
            <a:r>
              <a:rPr lang="pt-BR" sz="2000" dirty="0"/>
              <a:t> intermediários.</a:t>
            </a:r>
          </a:p>
          <a:p>
            <a:pPr algn="just"/>
            <a:r>
              <a:rPr lang="pt-BR" sz="2000" dirty="0"/>
              <a:t>A PACF é especialmente útil para determinar a ordem de modelos </a:t>
            </a:r>
            <a:r>
              <a:rPr lang="pt-BR" sz="2000" dirty="0" err="1"/>
              <a:t>autoregressivos</a:t>
            </a:r>
            <a:r>
              <a:rPr lang="pt-BR" sz="2000" dirty="0"/>
              <a:t> (AR) em análises de séries temporais, indicando quantos </a:t>
            </a:r>
            <a:r>
              <a:rPr lang="pt-BR" sz="2000" dirty="0" err="1"/>
              <a:t>lags</a:t>
            </a:r>
            <a:r>
              <a:rPr lang="pt-BR" sz="2000" dirty="0"/>
              <a:t> passados devem ser considerados para prever o valor atual da série.</a:t>
            </a:r>
          </a:p>
        </p:txBody>
      </p:sp>
      <p:sp>
        <p:nvSpPr>
          <p:cNvPr id="18435" name="Text Box 4">
            <a:extLst>
              <a:ext uri="{FF2B5EF4-FFF2-40B4-BE49-F238E27FC236}">
                <a16:creationId xmlns:a16="http://schemas.microsoft.com/office/drawing/2014/main" id="{064095E5-59EC-E173-DE1C-88A1B62944C0}"/>
              </a:ext>
            </a:extLst>
          </p:cNvPr>
          <p:cNvSpPr txBox="1">
            <a:spLocks noChangeArrowheads="1"/>
          </p:cNvSpPr>
          <p:nvPr/>
        </p:nvSpPr>
        <p:spPr bwMode="auto">
          <a:xfrm>
            <a:off x="839159" y="158447"/>
            <a:ext cx="754926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Conceitos Estatísticos</a:t>
            </a:r>
          </a:p>
        </p:txBody>
      </p:sp>
      <p:sp>
        <p:nvSpPr>
          <p:cNvPr id="2" name="Retângulo 1">
            <a:extLst>
              <a:ext uri="{FF2B5EF4-FFF2-40B4-BE49-F238E27FC236}">
                <a16:creationId xmlns:a16="http://schemas.microsoft.com/office/drawing/2014/main" id="{72061065-080E-C4A7-4618-7A84DE538C20}"/>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147422005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096D5-7FEE-FE57-A101-72A4BA876AC2}"/>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5B4AA6BF-8BB5-7ED1-4371-BD8E28F4B836}"/>
              </a:ext>
            </a:extLst>
          </p:cNvPr>
          <p:cNvSpPr>
            <a:spLocks noChangeArrowheads="1"/>
          </p:cNvSpPr>
          <p:nvPr/>
        </p:nvSpPr>
        <p:spPr bwMode="auto">
          <a:xfrm>
            <a:off x="312238" y="1059582"/>
            <a:ext cx="8657706" cy="3490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lvl="0" indent="-342900">
              <a:buFont typeface="Arial" panose="020B0604020202020204" pitchFamily="34" charset="0"/>
              <a:buChar char="•"/>
            </a:pPr>
            <a:r>
              <a:rPr lang="pt-BR" sz="2400" b="1" dirty="0"/>
              <a:t>Entendimento dos Dados (Análise Exploratória)</a:t>
            </a:r>
          </a:p>
          <a:p>
            <a:pPr marL="342900" lvl="0" indent="-342900">
              <a:buFont typeface="Arial" panose="020B0604020202020204" pitchFamily="34" charset="0"/>
              <a:buChar char="•"/>
            </a:pPr>
            <a:endParaRPr lang="pt-BR" sz="1000" dirty="0"/>
          </a:p>
          <a:p>
            <a:pPr marL="342900" lvl="0" indent="-342900">
              <a:buFont typeface="Arial" panose="020B0604020202020204" pitchFamily="34" charset="0"/>
              <a:buChar char="•"/>
            </a:pPr>
            <a:r>
              <a:rPr lang="pt-BR" sz="2400" b="1" dirty="0"/>
              <a:t>Limpeza e Preparação dos Dados</a:t>
            </a:r>
          </a:p>
          <a:p>
            <a:pPr marL="342900" lvl="0" indent="-342900">
              <a:buFont typeface="Arial" panose="020B0604020202020204" pitchFamily="34" charset="0"/>
              <a:buChar char="•"/>
            </a:pPr>
            <a:endParaRPr lang="pt-BR" sz="1000" dirty="0"/>
          </a:p>
          <a:p>
            <a:pPr marL="342900" lvl="0" indent="-342900">
              <a:buFont typeface="Arial" panose="020B0604020202020204" pitchFamily="34" charset="0"/>
              <a:buChar char="•"/>
            </a:pPr>
            <a:r>
              <a:rPr lang="pt-BR" sz="2400" b="1" dirty="0"/>
              <a:t>Seleção e Criação de Modelos</a:t>
            </a:r>
          </a:p>
          <a:p>
            <a:pPr marL="342900" lvl="0" indent="-342900">
              <a:buFont typeface="Arial" panose="020B0604020202020204" pitchFamily="34" charset="0"/>
              <a:buChar char="•"/>
            </a:pPr>
            <a:endParaRPr lang="pt-BR" sz="1000" dirty="0"/>
          </a:p>
          <a:p>
            <a:pPr marL="342900" lvl="0" indent="-342900">
              <a:buFont typeface="Arial" panose="020B0604020202020204" pitchFamily="34" charset="0"/>
              <a:buChar char="•"/>
            </a:pPr>
            <a:r>
              <a:rPr lang="pt-BR" sz="2400" b="1" dirty="0"/>
              <a:t>Validação do Modelo</a:t>
            </a:r>
          </a:p>
          <a:p>
            <a:pPr marL="342900" lvl="0" indent="-342900">
              <a:buFont typeface="Arial" panose="020B0604020202020204" pitchFamily="34" charset="0"/>
              <a:buChar char="•"/>
            </a:pPr>
            <a:endParaRPr lang="pt-BR" sz="1000" dirty="0"/>
          </a:p>
          <a:p>
            <a:pPr marL="342900" lvl="0" indent="-342900">
              <a:buFont typeface="Arial" panose="020B0604020202020204" pitchFamily="34" charset="0"/>
              <a:buChar char="•"/>
            </a:pPr>
            <a:r>
              <a:rPr lang="pt-BR" sz="2400" b="1" dirty="0"/>
              <a:t>Previsão</a:t>
            </a:r>
          </a:p>
          <a:p>
            <a:pPr marL="342900" lvl="0" indent="-342900">
              <a:buFont typeface="Arial" panose="020B0604020202020204" pitchFamily="34" charset="0"/>
              <a:buChar char="•"/>
            </a:pPr>
            <a:endParaRPr lang="pt-BR" sz="1000" dirty="0"/>
          </a:p>
          <a:p>
            <a:pPr marL="342900" lvl="0" indent="-342900">
              <a:buFont typeface="Arial" panose="020B0604020202020204" pitchFamily="34" charset="0"/>
              <a:buChar char="•"/>
            </a:pPr>
            <a:r>
              <a:rPr lang="pt-BR" sz="2400" b="1" dirty="0"/>
              <a:t>Interpretação e Implementação (</a:t>
            </a:r>
            <a:r>
              <a:rPr lang="pt-BR" sz="2400" b="1" dirty="0" err="1"/>
              <a:t>Deploy</a:t>
            </a:r>
            <a:r>
              <a:rPr lang="pt-BR" sz="2400" b="1" dirty="0"/>
              <a:t>)</a:t>
            </a:r>
            <a:endParaRPr lang="pt-BR" sz="2400" dirty="0"/>
          </a:p>
        </p:txBody>
      </p:sp>
      <p:sp>
        <p:nvSpPr>
          <p:cNvPr id="18435" name="Text Box 4">
            <a:extLst>
              <a:ext uri="{FF2B5EF4-FFF2-40B4-BE49-F238E27FC236}">
                <a16:creationId xmlns:a16="http://schemas.microsoft.com/office/drawing/2014/main" id="{F25E7B82-8BFA-2139-4C22-AD151B29F4D7}"/>
              </a:ext>
            </a:extLst>
          </p:cNvPr>
          <p:cNvSpPr txBox="1">
            <a:spLocks noChangeArrowheads="1"/>
          </p:cNvSpPr>
          <p:nvPr/>
        </p:nvSpPr>
        <p:spPr bwMode="auto">
          <a:xfrm>
            <a:off x="839159" y="158447"/>
            <a:ext cx="762127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Aspectos da modelagem Preditiva</a:t>
            </a:r>
          </a:p>
        </p:txBody>
      </p:sp>
      <p:sp>
        <p:nvSpPr>
          <p:cNvPr id="2" name="Retângulo 1">
            <a:extLst>
              <a:ext uri="{FF2B5EF4-FFF2-40B4-BE49-F238E27FC236}">
                <a16:creationId xmlns:a16="http://schemas.microsoft.com/office/drawing/2014/main" id="{E7F7396C-5BB9-F228-2C87-B5164E26F3FF}"/>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221320855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D7B5B-9EE4-B226-9B97-11D974FA652B}"/>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749FA74C-8E9D-19E8-422B-7EA1731BA189}"/>
              </a:ext>
            </a:extLst>
          </p:cNvPr>
          <p:cNvSpPr>
            <a:spLocks noChangeArrowheads="1"/>
          </p:cNvSpPr>
          <p:nvPr/>
        </p:nvSpPr>
        <p:spPr bwMode="auto">
          <a:xfrm>
            <a:off x="273054" y="826414"/>
            <a:ext cx="8657706" cy="4049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lvl="0" indent="-342900">
              <a:buFont typeface="Arial" panose="020B0604020202020204" pitchFamily="34" charset="0"/>
              <a:buChar char="•"/>
            </a:pPr>
            <a:r>
              <a:rPr lang="pt-BR" sz="2000" b="1" dirty="0"/>
              <a:t>AR (</a:t>
            </a:r>
            <a:r>
              <a:rPr lang="pt-BR" sz="2000" b="1" dirty="0" err="1"/>
              <a:t>Autoregressive</a:t>
            </a:r>
            <a:r>
              <a:rPr lang="pt-BR" sz="2000" b="1" dirty="0"/>
              <a:t> - Autorregressivo):</a:t>
            </a:r>
            <a:r>
              <a:rPr lang="pt-BR" sz="2000" dirty="0"/>
              <a:t> Utiliza uma combinação linear dos valores anteriores da própria série para prever valores futuros. É adequado para séries que mostram dependência de seus valores passados.</a:t>
            </a:r>
          </a:p>
          <a:p>
            <a:pPr marL="342900" lvl="0" indent="-342900">
              <a:buFont typeface="Arial" panose="020B0604020202020204" pitchFamily="34" charset="0"/>
              <a:buChar char="•"/>
            </a:pPr>
            <a:r>
              <a:rPr lang="pt-BR" sz="2000" b="1" dirty="0"/>
              <a:t>MA (Moving </a:t>
            </a:r>
            <a:r>
              <a:rPr lang="pt-BR" sz="2000" b="1" dirty="0" err="1"/>
              <a:t>Average</a:t>
            </a:r>
            <a:r>
              <a:rPr lang="pt-BR" sz="2000" b="1" dirty="0"/>
              <a:t> - Média Móvel):</a:t>
            </a:r>
            <a:r>
              <a:rPr lang="pt-BR" sz="2000" dirty="0"/>
              <a:t> Baseado nos erros de previsão passados (termos de média móvel) para modelar e prever a série. É eficaz para séries onde os choques aleatórios têm um efeito de curta duração.</a:t>
            </a:r>
          </a:p>
          <a:p>
            <a:pPr marL="342900" lvl="0" indent="-342900">
              <a:buFont typeface="Arial" panose="020B0604020202020204" pitchFamily="34" charset="0"/>
              <a:buChar char="•"/>
            </a:pPr>
            <a:r>
              <a:rPr lang="pt-BR" sz="2000" b="1" dirty="0"/>
              <a:t>ARMA (</a:t>
            </a:r>
            <a:r>
              <a:rPr lang="pt-BR" sz="2000" b="1" dirty="0" err="1"/>
              <a:t>Autoregressive</a:t>
            </a:r>
            <a:r>
              <a:rPr lang="pt-BR" sz="2000" b="1" dirty="0"/>
              <a:t> Moving </a:t>
            </a:r>
            <a:r>
              <a:rPr lang="pt-BR" sz="2000" b="1" dirty="0" err="1"/>
              <a:t>Average</a:t>
            </a:r>
            <a:r>
              <a:rPr lang="pt-BR" sz="2000" b="1" dirty="0"/>
              <a:t> - Autorregressivo de Média Móvel):</a:t>
            </a:r>
            <a:r>
              <a:rPr lang="pt-BR" sz="2000" dirty="0"/>
              <a:t> Uma combinação dos modelos AR e MA, sendo útil para séries estacionárias que exibem tanto dependência de seus valores passados quanto de erros passados.</a:t>
            </a:r>
          </a:p>
        </p:txBody>
      </p:sp>
      <p:sp>
        <p:nvSpPr>
          <p:cNvPr id="18435" name="Text Box 4">
            <a:extLst>
              <a:ext uri="{FF2B5EF4-FFF2-40B4-BE49-F238E27FC236}">
                <a16:creationId xmlns:a16="http://schemas.microsoft.com/office/drawing/2014/main" id="{40AE5BD4-9188-8347-5372-158FA0E4E932}"/>
              </a:ext>
            </a:extLst>
          </p:cNvPr>
          <p:cNvSpPr txBox="1">
            <a:spLocks noChangeArrowheads="1"/>
          </p:cNvSpPr>
          <p:nvPr/>
        </p:nvSpPr>
        <p:spPr bwMode="auto">
          <a:xfrm>
            <a:off x="839159" y="158447"/>
            <a:ext cx="902093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Principais Modelos</a:t>
            </a:r>
          </a:p>
        </p:txBody>
      </p:sp>
      <p:sp>
        <p:nvSpPr>
          <p:cNvPr id="2" name="Retângulo 1">
            <a:extLst>
              <a:ext uri="{FF2B5EF4-FFF2-40B4-BE49-F238E27FC236}">
                <a16:creationId xmlns:a16="http://schemas.microsoft.com/office/drawing/2014/main" id="{D2670A35-2603-1677-7614-87031F422AB1}"/>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209619013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B9A9E-0AEE-4198-F09A-A16E81022247}"/>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22404124-EBBA-EBEB-9734-5C57D35726DC}"/>
              </a:ext>
            </a:extLst>
          </p:cNvPr>
          <p:cNvSpPr>
            <a:spLocks noChangeArrowheads="1"/>
          </p:cNvSpPr>
          <p:nvPr/>
        </p:nvSpPr>
        <p:spPr bwMode="auto">
          <a:xfrm>
            <a:off x="323528" y="666278"/>
            <a:ext cx="8657706" cy="406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lvl="0" indent="-342900" algn="just">
              <a:buFont typeface="Arial" panose="020B0604020202020204" pitchFamily="34" charset="0"/>
              <a:buChar char="•"/>
            </a:pPr>
            <a:r>
              <a:rPr lang="pt-BR" sz="1900" b="1" dirty="0"/>
              <a:t>ARIMA (</a:t>
            </a:r>
            <a:r>
              <a:rPr lang="pt-BR" sz="1900" b="1" dirty="0" err="1"/>
              <a:t>Autoregressive</a:t>
            </a:r>
            <a:r>
              <a:rPr lang="pt-BR" sz="1900" b="1" dirty="0"/>
              <a:t> </a:t>
            </a:r>
            <a:r>
              <a:rPr lang="pt-BR" sz="1900" b="1" dirty="0" err="1"/>
              <a:t>Integrated</a:t>
            </a:r>
            <a:r>
              <a:rPr lang="pt-BR" sz="1900" b="1" dirty="0"/>
              <a:t> Moving </a:t>
            </a:r>
            <a:r>
              <a:rPr lang="pt-BR" sz="1900" b="1" dirty="0" err="1"/>
              <a:t>Average</a:t>
            </a:r>
            <a:r>
              <a:rPr lang="pt-BR" sz="1900" b="1" dirty="0"/>
              <a:t> - Autorregressivo Integrado de Média Móvel):</a:t>
            </a:r>
            <a:r>
              <a:rPr lang="pt-BR" sz="1900" dirty="0"/>
              <a:t> Uma extensão do modelo ARMA que inclui um componente "Integrado" (I) para lidar com séries não estacionárias. O componente "I" refere-se à diferenciação da série para torná-la estacionária antes de aplicar os componentes AR e MA.</a:t>
            </a:r>
          </a:p>
          <a:p>
            <a:pPr marL="342900" lvl="0" indent="-342900" algn="just">
              <a:buFont typeface="Arial" panose="020B0604020202020204" pitchFamily="34" charset="0"/>
              <a:buChar char="•"/>
            </a:pPr>
            <a:r>
              <a:rPr lang="pt-BR" sz="1900" b="1" dirty="0"/>
              <a:t>SARIMA (</a:t>
            </a:r>
            <a:r>
              <a:rPr lang="pt-BR" sz="1900" b="1" dirty="0" err="1"/>
              <a:t>Seasonal</a:t>
            </a:r>
            <a:r>
              <a:rPr lang="pt-BR" sz="1900" b="1" dirty="0"/>
              <a:t> </a:t>
            </a:r>
            <a:r>
              <a:rPr lang="pt-BR" sz="1900" b="1" dirty="0" err="1"/>
              <a:t>Autoregressive</a:t>
            </a:r>
            <a:r>
              <a:rPr lang="pt-BR" sz="1900" b="1" dirty="0"/>
              <a:t> </a:t>
            </a:r>
            <a:r>
              <a:rPr lang="pt-BR" sz="1900" b="1" dirty="0" err="1"/>
              <a:t>Integrated</a:t>
            </a:r>
            <a:r>
              <a:rPr lang="pt-BR" sz="1900" b="1" dirty="0"/>
              <a:t> Moving </a:t>
            </a:r>
            <a:r>
              <a:rPr lang="pt-BR" sz="1900" b="1" dirty="0" err="1"/>
              <a:t>Average</a:t>
            </a:r>
            <a:r>
              <a:rPr lang="pt-BR" sz="1900" b="1" dirty="0"/>
              <a:t> - Autorregressivo Integrado de Média Móvel Sazonal):</a:t>
            </a:r>
            <a:r>
              <a:rPr lang="pt-BR" sz="1900" dirty="0"/>
              <a:t> Uma extensão do ARIMA que incorpora componentes sazonais para lidar com séries que apresentam sazonalidade pronunciada. Inclui termos AR, I, MA para os componentes não sazonais e sazonais.</a:t>
            </a:r>
          </a:p>
          <a:p>
            <a:pPr marL="342900" lvl="0" indent="-342900" algn="just">
              <a:buFont typeface="Arial" panose="020B0604020202020204" pitchFamily="34" charset="0"/>
              <a:buChar char="•"/>
            </a:pPr>
            <a:r>
              <a:rPr lang="pt-BR" sz="1900" b="1" dirty="0"/>
              <a:t>Exponencial </a:t>
            </a:r>
            <a:r>
              <a:rPr lang="pt-BR" sz="1900" b="1" dirty="0" err="1"/>
              <a:t>Smoothing</a:t>
            </a:r>
            <a:r>
              <a:rPr lang="pt-BR" sz="1900" b="1" dirty="0"/>
              <a:t> (Suavização Exponencial):</a:t>
            </a:r>
            <a:r>
              <a:rPr lang="pt-BR" sz="1900" dirty="0"/>
              <a:t> Modelos que atribuem pesos decrescentes exponencialmente a observações passadas. Incluem métodos como o Holt-Winters, que pode lidar com tendências e sazonalidade.</a:t>
            </a:r>
          </a:p>
        </p:txBody>
      </p:sp>
      <p:sp>
        <p:nvSpPr>
          <p:cNvPr id="18435" name="Text Box 4">
            <a:extLst>
              <a:ext uri="{FF2B5EF4-FFF2-40B4-BE49-F238E27FC236}">
                <a16:creationId xmlns:a16="http://schemas.microsoft.com/office/drawing/2014/main" id="{B112F43E-C157-7FE6-0852-1243E6F050D3}"/>
              </a:ext>
            </a:extLst>
          </p:cNvPr>
          <p:cNvSpPr txBox="1">
            <a:spLocks noChangeArrowheads="1"/>
          </p:cNvSpPr>
          <p:nvPr/>
        </p:nvSpPr>
        <p:spPr bwMode="auto">
          <a:xfrm>
            <a:off x="839159" y="158447"/>
            <a:ext cx="902093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Principais Modelos</a:t>
            </a:r>
          </a:p>
        </p:txBody>
      </p:sp>
      <p:sp>
        <p:nvSpPr>
          <p:cNvPr id="2" name="Retângulo 1">
            <a:extLst>
              <a:ext uri="{FF2B5EF4-FFF2-40B4-BE49-F238E27FC236}">
                <a16:creationId xmlns:a16="http://schemas.microsoft.com/office/drawing/2014/main" id="{D54BF427-15FB-A1E0-9061-AE1F39D79476}"/>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277127479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AA223-CADF-2DE7-F41D-59559B5644B9}"/>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58B380C4-ACDE-6048-CA31-62A46879F06C}"/>
              </a:ext>
            </a:extLst>
          </p:cNvPr>
          <p:cNvSpPr>
            <a:spLocks noChangeArrowheads="1"/>
          </p:cNvSpPr>
          <p:nvPr/>
        </p:nvSpPr>
        <p:spPr bwMode="auto">
          <a:xfrm>
            <a:off x="260726" y="699542"/>
            <a:ext cx="8657706" cy="403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lvl="0" indent="-342900" algn="just">
              <a:buFont typeface="Arial" panose="020B0604020202020204" pitchFamily="34" charset="0"/>
              <a:buChar char="•"/>
            </a:pPr>
            <a:r>
              <a:rPr lang="pt-BR" sz="2000" b="1" dirty="0"/>
              <a:t>GARCH (</a:t>
            </a:r>
            <a:r>
              <a:rPr lang="pt-BR" sz="2000" b="1" dirty="0" err="1"/>
              <a:t>Generalized</a:t>
            </a:r>
            <a:r>
              <a:rPr lang="pt-BR" sz="2000" b="1" dirty="0"/>
              <a:t> </a:t>
            </a:r>
            <a:r>
              <a:rPr lang="pt-BR" sz="2000" b="1" dirty="0" err="1"/>
              <a:t>Autoregressive</a:t>
            </a:r>
            <a:r>
              <a:rPr lang="pt-BR" sz="2000" b="1" dirty="0"/>
              <a:t> </a:t>
            </a:r>
            <a:r>
              <a:rPr lang="pt-BR" sz="2000" b="1" dirty="0" err="1"/>
              <a:t>Conditional</a:t>
            </a:r>
            <a:r>
              <a:rPr lang="pt-BR" sz="2000" b="1" dirty="0"/>
              <a:t> </a:t>
            </a:r>
            <a:r>
              <a:rPr lang="pt-BR" sz="2000" b="1" dirty="0" err="1"/>
              <a:t>Heteroskedasticity</a:t>
            </a:r>
            <a:r>
              <a:rPr lang="pt-BR" sz="2000" b="1" dirty="0"/>
              <a:t> - Heteroscedasticidade Condicional Autorregressiva Generalizada):</a:t>
            </a:r>
            <a:r>
              <a:rPr lang="pt-BR" sz="2000" dirty="0"/>
              <a:t> Usado para modelar e prever a volatilidade (variância) de séries temporais financeiras, onde a volatilidade tende a se agrupar.</a:t>
            </a:r>
          </a:p>
          <a:p>
            <a:pPr marL="342900" lvl="0" indent="-342900" algn="just">
              <a:buFont typeface="Arial" panose="020B0604020202020204" pitchFamily="34" charset="0"/>
              <a:buChar char="•"/>
            </a:pPr>
            <a:r>
              <a:rPr lang="pt-BR" sz="2000" b="1" dirty="0" err="1"/>
              <a:t>Prophet</a:t>
            </a:r>
            <a:r>
              <a:rPr lang="pt-BR" sz="2000" b="1" dirty="0"/>
              <a:t>:</a:t>
            </a:r>
            <a:r>
              <a:rPr lang="pt-BR" sz="2000" dirty="0"/>
              <a:t> Um modelo de código aberto do Facebook, projetado para dados de séries temporais com fortes efeitos sazonais e históricos de dados com lacunas ou outliers. É robusto e fácil de usar, mesmo para analistas sem experiência em séries temporais.</a:t>
            </a:r>
          </a:p>
          <a:p>
            <a:pPr marL="342900" lvl="0" indent="-342900" algn="just">
              <a:buFont typeface="Arial" panose="020B0604020202020204" pitchFamily="34" charset="0"/>
              <a:buChar char="•"/>
            </a:pPr>
            <a:r>
              <a:rPr lang="pt-BR" sz="2000" b="1" dirty="0"/>
              <a:t>Redes Neurais Recorrentes (</a:t>
            </a:r>
            <a:r>
              <a:rPr lang="pt-BR" sz="2000" b="1" dirty="0" err="1"/>
              <a:t>RNNs</a:t>
            </a:r>
            <a:r>
              <a:rPr lang="pt-BR" sz="2000" b="1" dirty="0"/>
              <a:t>) e </a:t>
            </a:r>
            <a:r>
              <a:rPr lang="pt-BR" sz="2000" b="1" dirty="0" err="1"/>
              <a:t>LSTMs</a:t>
            </a:r>
            <a:r>
              <a:rPr lang="pt-BR" sz="2000" b="1" dirty="0"/>
              <a:t> (</a:t>
            </a:r>
            <a:r>
              <a:rPr lang="pt-BR" sz="2000" b="1" dirty="0" err="1"/>
              <a:t>Long</a:t>
            </a:r>
            <a:r>
              <a:rPr lang="pt-BR" sz="2000" b="1" dirty="0"/>
              <a:t> Short-</a:t>
            </a:r>
            <a:r>
              <a:rPr lang="pt-BR" sz="2000" b="1" dirty="0" err="1"/>
              <a:t>Term</a:t>
            </a:r>
            <a:r>
              <a:rPr lang="pt-BR" sz="2000" b="1" dirty="0"/>
              <a:t> </a:t>
            </a:r>
            <a:r>
              <a:rPr lang="pt-BR" sz="2000" b="1" dirty="0" err="1"/>
              <a:t>Memory</a:t>
            </a:r>
            <a:r>
              <a:rPr lang="pt-BR" sz="2000" b="1" dirty="0"/>
              <a:t>):</a:t>
            </a:r>
            <a:r>
              <a:rPr lang="pt-BR" sz="2000" dirty="0"/>
              <a:t> Modelos de aprendizado de máquina que são capazes de capturar padrões complexos e dependências de longo prazo em séries temporais, especialmente quando os dados são não lineares e grandes.</a:t>
            </a:r>
          </a:p>
        </p:txBody>
      </p:sp>
      <p:sp>
        <p:nvSpPr>
          <p:cNvPr id="18435" name="Text Box 4">
            <a:extLst>
              <a:ext uri="{FF2B5EF4-FFF2-40B4-BE49-F238E27FC236}">
                <a16:creationId xmlns:a16="http://schemas.microsoft.com/office/drawing/2014/main" id="{F5B85C0D-1A16-DB12-A262-25782BDB5671}"/>
              </a:ext>
            </a:extLst>
          </p:cNvPr>
          <p:cNvSpPr txBox="1">
            <a:spLocks noChangeArrowheads="1"/>
          </p:cNvSpPr>
          <p:nvPr/>
        </p:nvSpPr>
        <p:spPr bwMode="auto">
          <a:xfrm>
            <a:off x="839159" y="158447"/>
            <a:ext cx="9020932"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Principais Modelos</a:t>
            </a:r>
          </a:p>
        </p:txBody>
      </p:sp>
      <p:sp>
        <p:nvSpPr>
          <p:cNvPr id="2" name="Retângulo 1">
            <a:extLst>
              <a:ext uri="{FF2B5EF4-FFF2-40B4-BE49-F238E27FC236}">
                <a16:creationId xmlns:a16="http://schemas.microsoft.com/office/drawing/2014/main" id="{B3E98DE6-3129-737E-0FD4-F13611DE7696}"/>
              </a:ext>
            </a:extLst>
          </p:cNvPr>
          <p:cNvSpPr/>
          <p:nvPr/>
        </p:nvSpPr>
        <p:spPr>
          <a:xfrm>
            <a:off x="4317101" y="2229736"/>
            <a:ext cx="4572000" cy="307777"/>
          </a:xfrm>
          <a:prstGeom prst="rect">
            <a:avLst/>
          </a:prstGeom>
        </p:spPr>
        <p:txBody>
          <a:bodyPr>
            <a:spAutoFit/>
          </a:bodyPr>
          <a:lstStyle/>
          <a:p>
            <a:endParaRPr lang="pt-BR" dirty="0"/>
          </a:p>
        </p:txBody>
      </p:sp>
    </p:spTree>
    <p:extLst>
      <p:ext uri="{BB962C8B-B14F-4D97-AF65-F5344CB8AC3E}">
        <p14:creationId xmlns:p14="http://schemas.microsoft.com/office/powerpoint/2010/main" val="224315441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73BCA-32B7-0F59-71F0-7DC99D124283}"/>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EE59AA2E-98A0-91FA-85C1-ED1EB72E2472}"/>
              </a:ext>
            </a:extLst>
          </p:cNvPr>
          <p:cNvSpPr>
            <a:spLocks noChangeArrowheads="1"/>
          </p:cNvSpPr>
          <p:nvPr/>
        </p:nvSpPr>
        <p:spPr bwMode="auto">
          <a:xfrm>
            <a:off x="323527" y="771549"/>
            <a:ext cx="8352929" cy="39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lgn="just"/>
            <a:endParaRPr lang="pt-BR" sz="2000" dirty="0"/>
          </a:p>
        </p:txBody>
      </p:sp>
      <p:sp>
        <p:nvSpPr>
          <p:cNvPr id="18435" name="Text Box 4">
            <a:extLst>
              <a:ext uri="{FF2B5EF4-FFF2-40B4-BE49-F238E27FC236}">
                <a16:creationId xmlns:a16="http://schemas.microsoft.com/office/drawing/2014/main" id="{E33CFD86-AC93-3845-B1B4-C612CD6ED228}"/>
              </a:ext>
            </a:extLst>
          </p:cNvPr>
          <p:cNvSpPr txBox="1">
            <a:spLocks noChangeArrowheads="1"/>
          </p:cNvSpPr>
          <p:nvPr/>
        </p:nvSpPr>
        <p:spPr bwMode="auto">
          <a:xfrm>
            <a:off x="839159" y="158447"/>
            <a:ext cx="783729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Etapas da Análise de Séries Temporais</a:t>
            </a:r>
          </a:p>
        </p:txBody>
      </p:sp>
      <p:sp>
        <p:nvSpPr>
          <p:cNvPr id="2" name="Retângulo 1">
            <a:extLst>
              <a:ext uri="{FF2B5EF4-FFF2-40B4-BE49-F238E27FC236}">
                <a16:creationId xmlns:a16="http://schemas.microsoft.com/office/drawing/2014/main" id="{168C2494-DDCE-E686-A2E7-EC49B870BCFA}"/>
              </a:ext>
            </a:extLst>
          </p:cNvPr>
          <p:cNvSpPr/>
          <p:nvPr/>
        </p:nvSpPr>
        <p:spPr>
          <a:xfrm>
            <a:off x="4317101" y="2229736"/>
            <a:ext cx="4572000" cy="307777"/>
          </a:xfrm>
          <a:prstGeom prst="rect">
            <a:avLst/>
          </a:prstGeom>
        </p:spPr>
        <p:txBody>
          <a:bodyPr>
            <a:spAutoFit/>
          </a:bodyPr>
          <a:lstStyle/>
          <a:p>
            <a:endParaRPr lang="pt-BR" dirty="0"/>
          </a:p>
        </p:txBody>
      </p:sp>
      <p:sp>
        <p:nvSpPr>
          <p:cNvPr id="5" name="CaixaDeTexto 4">
            <a:extLst>
              <a:ext uri="{FF2B5EF4-FFF2-40B4-BE49-F238E27FC236}">
                <a16:creationId xmlns:a16="http://schemas.microsoft.com/office/drawing/2014/main" id="{47067CC0-2574-8B8B-B113-47AED95CE1E3}"/>
              </a:ext>
            </a:extLst>
          </p:cNvPr>
          <p:cNvSpPr txBox="1"/>
          <p:nvPr/>
        </p:nvSpPr>
        <p:spPr>
          <a:xfrm>
            <a:off x="395536" y="843558"/>
            <a:ext cx="8208912" cy="3877087"/>
          </a:xfrm>
          <a:prstGeom prst="rect">
            <a:avLst/>
          </a:prstGeom>
          <a:noFill/>
        </p:spPr>
        <p:txBody>
          <a:bodyPr wrap="square">
            <a:spAutoFit/>
          </a:bodyPr>
          <a:lstStyle/>
          <a:p>
            <a:pPr algn="just">
              <a:lnSpc>
                <a:spcPct val="115000"/>
              </a:lnSpc>
              <a:spcAft>
                <a:spcPts val="800"/>
              </a:spcAft>
              <a:buNone/>
            </a:pPr>
            <a:r>
              <a:rPr lang="pt-BR" sz="1800" b="1" kern="100" dirty="0">
                <a:effectLst/>
                <a:latin typeface="Arial" panose="020B0604020202020204" pitchFamily="34" charset="0"/>
                <a:ea typeface="Aptos" panose="020B0004020202020204" pitchFamily="34" charset="0"/>
                <a:cs typeface="Arial" panose="020B0604020202020204" pitchFamily="34" charset="0"/>
              </a:rPr>
              <a:t>1- Coleta de Dados:</a:t>
            </a:r>
            <a:r>
              <a:rPr lang="pt-BR" sz="1800" kern="100" dirty="0">
                <a:effectLst/>
                <a:latin typeface="Arial" panose="020B0604020202020204" pitchFamily="34" charset="0"/>
                <a:ea typeface="Aptos" panose="020B0004020202020204" pitchFamily="34" charset="0"/>
                <a:cs typeface="Arial" panose="020B0604020202020204" pitchFamily="34" charset="0"/>
              </a:rPr>
              <a:t> Obtenção de dados sequenciais ao longo de um período de tempo. Os dados podem ser coletados em intervalos regulares (diários, mensais, anuais, etc.) ou irregulares.</a:t>
            </a:r>
          </a:p>
          <a:p>
            <a:pPr algn="just">
              <a:lnSpc>
                <a:spcPct val="115000"/>
              </a:lnSpc>
              <a:spcAft>
                <a:spcPts val="800"/>
              </a:spcAft>
              <a:buNone/>
            </a:pPr>
            <a:r>
              <a:rPr lang="pt-BR" sz="1800" b="1" kern="100" dirty="0">
                <a:effectLst/>
                <a:latin typeface="Arial" panose="020B0604020202020204" pitchFamily="34" charset="0"/>
                <a:ea typeface="Aptos" panose="020B0004020202020204" pitchFamily="34" charset="0"/>
                <a:cs typeface="Arial" panose="020B0604020202020204" pitchFamily="34" charset="0"/>
              </a:rPr>
              <a:t>2- Visualização:</a:t>
            </a:r>
            <a:r>
              <a:rPr lang="pt-BR" sz="1800" kern="100" dirty="0">
                <a:effectLst/>
                <a:latin typeface="Arial" panose="020B0604020202020204" pitchFamily="34" charset="0"/>
                <a:ea typeface="Aptos" panose="020B0004020202020204" pitchFamily="34" charset="0"/>
                <a:cs typeface="Arial" panose="020B0604020202020204" pitchFamily="34" charset="0"/>
              </a:rPr>
              <a:t> Análise gráfica das séries temporais para identificar padrões visuais, como sazonalidade, tendências, ciclos e ruídos.</a:t>
            </a:r>
          </a:p>
          <a:p>
            <a:pPr algn="just">
              <a:lnSpc>
                <a:spcPct val="115000"/>
              </a:lnSpc>
              <a:spcAft>
                <a:spcPts val="800"/>
              </a:spcAft>
              <a:buNone/>
            </a:pPr>
            <a:r>
              <a:rPr lang="pt-BR" sz="1800" b="1" kern="100" dirty="0">
                <a:effectLst/>
                <a:latin typeface="Arial" panose="020B0604020202020204" pitchFamily="34" charset="0"/>
                <a:ea typeface="Aptos" panose="020B0004020202020204" pitchFamily="34" charset="0"/>
                <a:cs typeface="Arial" panose="020B0604020202020204" pitchFamily="34" charset="0"/>
              </a:rPr>
              <a:t>3- Decomposição:</a:t>
            </a:r>
            <a:r>
              <a:rPr lang="pt-BR" sz="1800" kern="100" dirty="0">
                <a:effectLst/>
                <a:latin typeface="Arial" panose="020B0604020202020204" pitchFamily="34" charset="0"/>
                <a:ea typeface="Aptos" panose="020B0004020202020204" pitchFamily="34" charset="0"/>
                <a:cs typeface="Arial" panose="020B0604020202020204" pitchFamily="34" charset="0"/>
              </a:rPr>
              <a:t> Separação dos componentes principais da série temporal, como tendência, sazonalidade e resíduos (ou ruído).</a:t>
            </a:r>
          </a:p>
          <a:p>
            <a:pPr algn="just">
              <a:lnSpc>
                <a:spcPct val="115000"/>
              </a:lnSpc>
              <a:spcAft>
                <a:spcPts val="800"/>
              </a:spcAft>
              <a:buNone/>
            </a:pPr>
            <a:r>
              <a:rPr lang="pt-BR" sz="1800" b="1" dirty="0">
                <a:latin typeface="Arial" panose="020B0604020202020204" pitchFamily="34" charset="0"/>
                <a:cs typeface="Arial" panose="020B0604020202020204" pitchFamily="34" charset="0"/>
              </a:rPr>
              <a:t>4- </a:t>
            </a:r>
            <a:r>
              <a:rPr lang="pt-BR" sz="1800" b="1" dirty="0" err="1">
                <a:latin typeface="Arial" panose="020B0604020202020204" pitchFamily="34" charset="0"/>
                <a:cs typeface="Arial" panose="020B0604020202020204" pitchFamily="34" charset="0"/>
              </a:rPr>
              <a:t>Estacionariedade</a:t>
            </a:r>
            <a:r>
              <a:rPr lang="pt-BR" sz="1800" b="1" dirty="0">
                <a:latin typeface="Arial" panose="020B0604020202020204" pitchFamily="34" charset="0"/>
                <a:cs typeface="Arial" panose="020B0604020202020204" pitchFamily="34" charset="0"/>
              </a:rPr>
              <a:t>:</a:t>
            </a:r>
            <a:r>
              <a:rPr lang="pt-BR" sz="1800" dirty="0">
                <a:latin typeface="Arial" panose="020B0604020202020204" pitchFamily="34" charset="0"/>
                <a:cs typeface="Arial" panose="020B0604020202020204" pitchFamily="34" charset="0"/>
              </a:rPr>
              <a:t> Verificação da </a:t>
            </a:r>
            <a:r>
              <a:rPr lang="pt-BR" sz="1800" dirty="0" err="1">
                <a:latin typeface="Arial" panose="020B0604020202020204" pitchFamily="34" charset="0"/>
                <a:cs typeface="Arial" panose="020B0604020202020204" pitchFamily="34" charset="0"/>
              </a:rPr>
              <a:t>estacionariedade</a:t>
            </a:r>
            <a:r>
              <a:rPr lang="pt-BR" sz="1800" dirty="0">
                <a:latin typeface="Arial" panose="020B0604020202020204" pitchFamily="34" charset="0"/>
                <a:cs typeface="Arial" panose="020B0604020202020204" pitchFamily="34" charset="0"/>
              </a:rPr>
              <a:t> dos dados, ou seja, se suas propriedades estatísticas permanecem constantes ao longo do tempo. Caso os dados não sejam estacionários, pode ser necessário aplicar transformações, como diferenciação ou logaritmo.</a:t>
            </a:r>
            <a:endParaRPr lang="pt-BR" sz="1800"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59493467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C401A-E680-4F40-F88B-1307116BEAB3}"/>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10C0060F-1850-EEE8-B209-DE5B1BC501F1}"/>
              </a:ext>
            </a:extLst>
          </p:cNvPr>
          <p:cNvSpPr>
            <a:spLocks noChangeArrowheads="1"/>
          </p:cNvSpPr>
          <p:nvPr/>
        </p:nvSpPr>
        <p:spPr bwMode="auto">
          <a:xfrm>
            <a:off x="323527" y="771549"/>
            <a:ext cx="8352929" cy="39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lgn="just"/>
            <a:endParaRPr lang="pt-BR" sz="2000" dirty="0"/>
          </a:p>
        </p:txBody>
      </p:sp>
      <p:sp>
        <p:nvSpPr>
          <p:cNvPr id="18435" name="Text Box 4">
            <a:extLst>
              <a:ext uri="{FF2B5EF4-FFF2-40B4-BE49-F238E27FC236}">
                <a16:creationId xmlns:a16="http://schemas.microsoft.com/office/drawing/2014/main" id="{5F705F34-36E0-3ABA-88A9-5C795C664E8C}"/>
              </a:ext>
            </a:extLst>
          </p:cNvPr>
          <p:cNvSpPr txBox="1">
            <a:spLocks noChangeArrowheads="1"/>
          </p:cNvSpPr>
          <p:nvPr/>
        </p:nvSpPr>
        <p:spPr bwMode="auto">
          <a:xfrm>
            <a:off x="839159" y="158447"/>
            <a:ext cx="783729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Etapas da Análise de Séries Temporais</a:t>
            </a:r>
          </a:p>
        </p:txBody>
      </p:sp>
      <p:sp>
        <p:nvSpPr>
          <p:cNvPr id="2" name="Retângulo 1">
            <a:extLst>
              <a:ext uri="{FF2B5EF4-FFF2-40B4-BE49-F238E27FC236}">
                <a16:creationId xmlns:a16="http://schemas.microsoft.com/office/drawing/2014/main" id="{8BB07514-E77B-FF3D-A6C7-4F71C1788DC7}"/>
              </a:ext>
            </a:extLst>
          </p:cNvPr>
          <p:cNvSpPr/>
          <p:nvPr/>
        </p:nvSpPr>
        <p:spPr>
          <a:xfrm>
            <a:off x="4317101" y="2229736"/>
            <a:ext cx="4572000" cy="307777"/>
          </a:xfrm>
          <a:prstGeom prst="rect">
            <a:avLst/>
          </a:prstGeom>
        </p:spPr>
        <p:txBody>
          <a:bodyPr>
            <a:spAutoFit/>
          </a:bodyPr>
          <a:lstStyle/>
          <a:p>
            <a:endParaRPr lang="pt-BR" dirty="0"/>
          </a:p>
        </p:txBody>
      </p:sp>
      <p:sp>
        <p:nvSpPr>
          <p:cNvPr id="5" name="CaixaDeTexto 4">
            <a:extLst>
              <a:ext uri="{FF2B5EF4-FFF2-40B4-BE49-F238E27FC236}">
                <a16:creationId xmlns:a16="http://schemas.microsoft.com/office/drawing/2014/main" id="{5EC8553F-1291-B9F6-840B-D069AEC48963}"/>
              </a:ext>
            </a:extLst>
          </p:cNvPr>
          <p:cNvSpPr txBox="1"/>
          <p:nvPr/>
        </p:nvSpPr>
        <p:spPr>
          <a:xfrm>
            <a:off x="395536" y="843558"/>
            <a:ext cx="8208912" cy="3693319"/>
          </a:xfrm>
          <a:prstGeom prst="rect">
            <a:avLst/>
          </a:prstGeom>
          <a:noFill/>
        </p:spPr>
        <p:txBody>
          <a:bodyPr wrap="square">
            <a:spAutoFit/>
          </a:bodyPr>
          <a:lstStyle/>
          <a:p>
            <a:pPr algn="just"/>
            <a:r>
              <a:rPr lang="pt-BR" sz="1800" b="1" dirty="0"/>
              <a:t>5- Seleção do Modelo:</a:t>
            </a:r>
            <a:r>
              <a:rPr lang="pt-BR" sz="1800" dirty="0"/>
              <a:t> Escolha de um modelo adequado para ajustar os dados, como modelos ARIMA (</a:t>
            </a:r>
            <a:r>
              <a:rPr lang="pt-BR" sz="1800" dirty="0" err="1"/>
              <a:t>Autoregressive</a:t>
            </a:r>
            <a:r>
              <a:rPr lang="pt-BR" sz="1800" dirty="0"/>
              <a:t> </a:t>
            </a:r>
            <a:r>
              <a:rPr lang="pt-BR" sz="1800" dirty="0" err="1"/>
              <a:t>Integrated</a:t>
            </a:r>
            <a:r>
              <a:rPr lang="pt-BR" sz="1800" dirty="0"/>
              <a:t> Moving </a:t>
            </a:r>
            <a:r>
              <a:rPr lang="pt-BR" sz="1800" dirty="0" err="1"/>
              <a:t>Average</a:t>
            </a:r>
            <a:r>
              <a:rPr lang="pt-BR" sz="1800" dirty="0"/>
              <a:t>), SARIMA (</a:t>
            </a:r>
            <a:r>
              <a:rPr lang="pt-BR" sz="1800" dirty="0" err="1"/>
              <a:t>Seasonal</a:t>
            </a:r>
            <a:r>
              <a:rPr lang="pt-BR" sz="1800" dirty="0"/>
              <a:t> ARIMA), modelos de médias móveis exponenciais (EMA), modelos de estado espaço ou modelos baseados em Inteligência Artificial.</a:t>
            </a:r>
          </a:p>
          <a:p>
            <a:pPr algn="just"/>
            <a:r>
              <a:rPr lang="pt-BR" sz="1800" b="1" dirty="0"/>
              <a:t>6- Estimativa de Parâmetros e Validação:</a:t>
            </a:r>
            <a:r>
              <a:rPr lang="pt-BR" sz="1800" dirty="0"/>
              <a:t> Ajuste do modelo escolhido aos dados e verificação de sua adequação por meio de métricas de desempenho, como erro quadrático médio (MSE), erro absoluto médio (MAE) e coeficiente de determinação (R²).</a:t>
            </a:r>
          </a:p>
          <a:p>
            <a:pPr algn="just"/>
            <a:r>
              <a:rPr lang="pt-BR" sz="1800" b="1" dirty="0"/>
              <a:t>7- Previsão (Forecast):</a:t>
            </a:r>
            <a:r>
              <a:rPr lang="pt-BR" sz="1800" dirty="0"/>
              <a:t> Utilização do modelo ajustado para realizar previsões futuras, com base nos padrões identificados na série temporal.</a:t>
            </a:r>
          </a:p>
          <a:p>
            <a:pPr algn="just"/>
            <a:r>
              <a:rPr lang="pt-BR" sz="1800" b="1" dirty="0"/>
              <a:t>8- Avaliação e Atualização:</a:t>
            </a:r>
            <a:r>
              <a:rPr lang="pt-BR" sz="1800" dirty="0"/>
              <a:t> Monitoramento do desempenho do modelo em relação às novas observações e ajuste dos parâmetros, se necessário, para melhorar as previsões futuras.</a:t>
            </a:r>
            <a:r>
              <a:rPr lang="pt-BR" sz="1800" dirty="0">
                <a:latin typeface="Arial" panose="020B0604020202020204" pitchFamily="34" charset="0"/>
                <a:cs typeface="Arial" panose="020B0604020202020204" pitchFamily="34" charset="0"/>
              </a:rPr>
              <a:t>.</a:t>
            </a:r>
            <a:endParaRPr lang="pt-BR" sz="1800"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29326532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B0B5E-12F5-F515-D8AA-086EFCD79786}"/>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486B8B5F-DC04-9F22-4623-D3910A603660}"/>
              </a:ext>
            </a:extLst>
          </p:cNvPr>
          <p:cNvSpPr>
            <a:spLocks noChangeArrowheads="1"/>
          </p:cNvSpPr>
          <p:nvPr/>
        </p:nvSpPr>
        <p:spPr bwMode="auto">
          <a:xfrm>
            <a:off x="323527" y="771549"/>
            <a:ext cx="8352929" cy="39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lgn="just"/>
            <a:endParaRPr lang="pt-BR" sz="2000" dirty="0"/>
          </a:p>
        </p:txBody>
      </p:sp>
      <p:sp>
        <p:nvSpPr>
          <p:cNvPr id="18435" name="Text Box 4">
            <a:extLst>
              <a:ext uri="{FF2B5EF4-FFF2-40B4-BE49-F238E27FC236}">
                <a16:creationId xmlns:a16="http://schemas.microsoft.com/office/drawing/2014/main" id="{90904D36-4749-286C-071F-35085D9DB693}"/>
              </a:ext>
            </a:extLst>
          </p:cNvPr>
          <p:cNvSpPr txBox="1">
            <a:spLocks noChangeArrowheads="1"/>
          </p:cNvSpPr>
          <p:nvPr/>
        </p:nvSpPr>
        <p:spPr bwMode="auto">
          <a:xfrm>
            <a:off x="839159" y="158447"/>
            <a:ext cx="783729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Escolha do Modelo</a:t>
            </a:r>
          </a:p>
        </p:txBody>
      </p:sp>
      <p:sp>
        <p:nvSpPr>
          <p:cNvPr id="2" name="Retângulo 1">
            <a:extLst>
              <a:ext uri="{FF2B5EF4-FFF2-40B4-BE49-F238E27FC236}">
                <a16:creationId xmlns:a16="http://schemas.microsoft.com/office/drawing/2014/main" id="{8D4C6BFB-5B97-7DE6-4251-C75D0A9DC6FD}"/>
              </a:ext>
            </a:extLst>
          </p:cNvPr>
          <p:cNvSpPr/>
          <p:nvPr/>
        </p:nvSpPr>
        <p:spPr>
          <a:xfrm>
            <a:off x="4317101" y="2229736"/>
            <a:ext cx="4572000" cy="307777"/>
          </a:xfrm>
          <a:prstGeom prst="rect">
            <a:avLst/>
          </a:prstGeom>
        </p:spPr>
        <p:txBody>
          <a:bodyPr>
            <a:spAutoFit/>
          </a:bodyPr>
          <a:lstStyle/>
          <a:p>
            <a:endParaRPr lang="pt-BR" dirty="0"/>
          </a:p>
        </p:txBody>
      </p:sp>
      <p:sp>
        <p:nvSpPr>
          <p:cNvPr id="5" name="CaixaDeTexto 4">
            <a:extLst>
              <a:ext uri="{FF2B5EF4-FFF2-40B4-BE49-F238E27FC236}">
                <a16:creationId xmlns:a16="http://schemas.microsoft.com/office/drawing/2014/main" id="{6743DBF4-6B87-F309-D9F5-A91A68A05A41}"/>
              </a:ext>
            </a:extLst>
          </p:cNvPr>
          <p:cNvSpPr txBox="1"/>
          <p:nvPr/>
        </p:nvSpPr>
        <p:spPr>
          <a:xfrm>
            <a:off x="395536" y="843558"/>
            <a:ext cx="8208912" cy="3970318"/>
          </a:xfrm>
          <a:prstGeom prst="rect">
            <a:avLst/>
          </a:prstGeom>
          <a:noFill/>
        </p:spPr>
        <p:txBody>
          <a:bodyPr wrap="square">
            <a:spAutoFit/>
          </a:bodyPr>
          <a:lstStyle/>
          <a:p>
            <a:pPr algn="just"/>
            <a:r>
              <a:rPr lang="pt-BR" sz="1800" b="1" dirty="0"/>
              <a:t>Métricas de Erro de Previsão</a:t>
            </a:r>
            <a:endParaRPr lang="pt-BR" sz="1800" dirty="0"/>
          </a:p>
          <a:p>
            <a:pPr algn="just"/>
            <a:r>
              <a:rPr lang="pt-BR" sz="1800" b="1" dirty="0"/>
              <a:t>Erro Quadrático Médio (MSE):</a:t>
            </a:r>
            <a:r>
              <a:rPr lang="pt-BR" sz="1800" dirty="0"/>
              <a:t> É a média dos quadrados dos erros. É muito sensível a outliers, pois os erros são elevados ao quadrado antes de calcular a média.</a:t>
            </a:r>
          </a:p>
          <a:p>
            <a:pPr algn="just"/>
            <a:r>
              <a:rPr lang="pt-BR" sz="1800" b="1" dirty="0"/>
              <a:t>Raiz do Erro Quadrático Médio (RMSE):</a:t>
            </a:r>
            <a:r>
              <a:rPr lang="pt-BR" sz="1800" dirty="0"/>
              <a:t> É a raiz quadrada do MSE e oferece uma medida da magnitude dos erros na mesma unidade dos dados.</a:t>
            </a:r>
          </a:p>
          <a:p>
            <a:pPr algn="just"/>
            <a:r>
              <a:rPr lang="pt-BR" sz="1800" b="1" dirty="0"/>
              <a:t>Erro Absoluto Médio (MAE):</a:t>
            </a:r>
            <a:r>
              <a:rPr lang="pt-BR" sz="1800" dirty="0"/>
              <a:t> Calcula a média dos valores absolutos dos erros. Menos sensível a outliers do que o MSE/RMSE.</a:t>
            </a:r>
          </a:p>
          <a:p>
            <a:pPr algn="just"/>
            <a:r>
              <a:rPr lang="pt-BR" sz="1800" b="1" dirty="0"/>
              <a:t>Erro Percentual Absoluto Médio (MAPE):</a:t>
            </a:r>
            <a:r>
              <a:rPr lang="pt-BR" sz="1800" dirty="0"/>
              <a:t> Expressa o erro como uma porcentagem do valor observado, útil para comparar a precisão entre diferentes conjuntos de dados.</a:t>
            </a:r>
          </a:p>
          <a:p>
            <a:pPr algn="just"/>
            <a:r>
              <a:rPr lang="pt-BR" sz="1800" dirty="0"/>
              <a:t>Essas métricas fornecem uma avaliação numérica de quão próximas as previsões do modelo estão dos valores reais. Geralmente, modelos com MSE, RMSE, MAE e MAPE mais baixos são preferíveis.</a:t>
            </a:r>
          </a:p>
        </p:txBody>
      </p:sp>
    </p:spTree>
    <p:extLst>
      <p:ext uri="{BB962C8B-B14F-4D97-AF65-F5344CB8AC3E}">
        <p14:creationId xmlns:p14="http://schemas.microsoft.com/office/powerpoint/2010/main" val="189800555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17656-BABE-2F40-74F5-6E33B08A90D8}"/>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07640FF3-E89B-AFCC-34C5-8E825BF1F0DA}"/>
              </a:ext>
            </a:extLst>
          </p:cNvPr>
          <p:cNvSpPr>
            <a:spLocks noChangeArrowheads="1"/>
          </p:cNvSpPr>
          <p:nvPr/>
        </p:nvSpPr>
        <p:spPr bwMode="auto">
          <a:xfrm>
            <a:off x="323527" y="771549"/>
            <a:ext cx="8352929" cy="39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lgn="just"/>
            <a:endParaRPr lang="pt-BR" sz="2000" dirty="0"/>
          </a:p>
        </p:txBody>
      </p:sp>
      <p:sp>
        <p:nvSpPr>
          <p:cNvPr id="18435" name="Text Box 4">
            <a:extLst>
              <a:ext uri="{FF2B5EF4-FFF2-40B4-BE49-F238E27FC236}">
                <a16:creationId xmlns:a16="http://schemas.microsoft.com/office/drawing/2014/main" id="{0BC63EF7-9C8F-1704-74D8-0EDF9DB6C5A2}"/>
              </a:ext>
            </a:extLst>
          </p:cNvPr>
          <p:cNvSpPr txBox="1">
            <a:spLocks noChangeArrowheads="1"/>
          </p:cNvSpPr>
          <p:nvPr/>
        </p:nvSpPr>
        <p:spPr bwMode="auto">
          <a:xfrm>
            <a:off x="839159" y="158447"/>
            <a:ext cx="783729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Escolha do Modelo</a:t>
            </a:r>
          </a:p>
        </p:txBody>
      </p:sp>
      <p:sp>
        <p:nvSpPr>
          <p:cNvPr id="2" name="Retângulo 1">
            <a:extLst>
              <a:ext uri="{FF2B5EF4-FFF2-40B4-BE49-F238E27FC236}">
                <a16:creationId xmlns:a16="http://schemas.microsoft.com/office/drawing/2014/main" id="{45FF6708-EE1E-7E50-9FF0-04A3723020CB}"/>
              </a:ext>
            </a:extLst>
          </p:cNvPr>
          <p:cNvSpPr/>
          <p:nvPr/>
        </p:nvSpPr>
        <p:spPr>
          <a:xfrm>
            <a:off x="4317101" y="2229736"/>
            <a:ext cx="4572000" cy="307777"/>
          </a:xfrm>
          <a:prstGeom prst="rect">
            <a:avLst/>
          </a:prstGeom>
        </p:spPr>
        <p:txBody>
          <a:bodyPr>
            <a:spAutoFit/>
          </a:bodyPr>
          <a:lstStyle/>
          <a:p>
            <a:endParaRPr lang="pt-BR" dirty="0"/>
          </a:p>
        </p:txBody>
      </p:sp>
      <p:sp>
        <p:nvSpPr>
          <p:cNvPr id="5" name="CaixaDeTexto 4">
            <a:extLst>
              <a:ext uri="{FF2B5EF4-FFF2-40B4-BE49-F238E27FC236}">
                <a16:creationId xmlns:a16="http://schemas.microsoft.com/office/drawing/2014/main" id="{120A4737-857B-65F6-046A-9AA8EA7A3537}"/>
              </a:ext>
            </a:extLst>
          </p:cNvPr>
          <p:cNvSpPr txBox="1"/>
          <p:nvPr/>
        </p:nvSpPr>
        <p:spPr>
          <a:xfrm>
            <a:off x="395536" y="843558"/>
            <a:ext cx="8208912" cy="3970318"/>
          </a:xfrm>
          <a:prstGeom prst="rect">
            <a:avLst/>
          </a:prstGeom>
          <a:noFill/>
        </p:spPr>
        <p:txBody>
          <a:bodyPr wrap="square">
            <a:spAutoFit/>
          </a:bodyPr>
          <a:lstStyle/>
          <a:p>
            <a:pPr algn="just"/>
            <a:r>
              <a:rPr lang="pt-BR" sz="1800" b="1" dirty="0"/>
              <a:t>Análise dos Resíduos</a:t>
            </a:r>
            <a:endParaRPr lang="pt-BR" sz="1800" dirty="0"/>
          </a:p>
          <a:p>
            <a:pPr algn="just"/>
            <a:r>
              <a:rPr lang="pt-BR" sz="1800" dirty="0"/>
              <a:t>Os resíduos de um modelo (a diferença entre os valores observados e os valores previstos) devem idealmente se assemelhar a ruído branco, ou seja, serem estacionários e desprovidos de padrões. Analisar os resíduos pode ajudar a identificar se um modelo está </a:t>
            </a:r>
            <a:r>
              <a:rPr lang="pt-BR" sz="1800" dirty="0" err="1"/>
              <a:t>subajustado</a:t>
            </a:r>
            <a:r>
              <a:rPr lang="pt-BR" sz="1800" dirty="0"/>
              <a:t> (</a:t>
            </a:r>
            <a:r>
              <a:rPr lang="pt-BR" sz="1800" dirty="0" err="1"/>
              <a:t>underfitting</a:t>
            </a:r>
            <a:r>
              <a:rPr lang="pt-BR" sz="1800" dirty="0"/>
              <a:t>) ou </a:t>
            </a:r>
            <a:r>
              <a:rPr lang="pt-BR" sz="1800" dirty="0" err="1"/>
              <a:t>sobreajustado</a:t>
            </a:r>
            <a:r>
              <a:rPr lang="pt-BR" sz="1800" dirty="0"/>
              <a:t> (</a:t>
            </a:r>
            <a:r>
              <a:rPr lang="pt-BR" sz="1800" dirty="0" err="1"/>
              <a:t>overfitting</a:t>
            </a:r>
            <a:r>
              <a:rPr lang="pt-BR" sz="1800" dirty="0"/>
              <a:t>). Ferramentas comuns incluem:</a:t>
            </a:r>
          </a:p>
          <a:p>
            <a:pPr algn="just"/>
            <a:r>
              <a:rPr lang="pt-BR" sz="1800" b="1" dirty="0"/>
              <a:t>Gráficos de resíduos:</a:t>
            </a:r>
            <a:r>
              <a:rPr lang="pt-BR" sz="1800" dirty="0"/>
              <a:t> Deve-se procurar por padrões nos resíduos. A presença de estruturas ou padrões sugere um ajuste inadequado.</a:t>
            </a:r>
          </a:p>
          <a:p>
            <a:pPr algn="just"/>
            <a:r>
              <a:rPr lang="pt-BR" sz="1800" b="1" dirty="0"/>
              <a:t>Teste de </a:t>
            </a:r>
            <a:r>
              <a:rPr lang="pt-BR" sz="1800" b="1" dirty="0" err="1"/>
              <a:t>Estacionariedade</a:t>
            </a:r>
            <a:r>
              <a:rPr lang="pt-BR" sz="1800" b="1" dirty="0"/>
              <a:t>:</a:t>
            </a:r>
            <a:r>
              <a:rPr lang="pt-BR" sz="1800" dirty="0"/>
              <a:t> Testes como o teste </a:t>
            </a:r>
            <a:r>
              <a:rPr lang="pt-BR" sz="1800" dirty="0" err="1"/>
              <a:t>Dickey</a:t>
            </a:r>
            <a:r>
              <a:rPr lang="pt-BR" sz="1800" dirty="0"/>
              <a:t>-Fuller aumentado podem ser usados para verificar se os resíduos são estacionários.</a:t>
            </a:r>
          </a:p>
          <a:p>
            <a:pPr algn="just"/>
            <a:r>
              <a:rPr lang="pt-BR" sz="1800" b="1" dirty="0"/>
              <a:t>Autocorrelação dos resíduos:</a:t>
            </a:r>
            <a:r>
              <a:rPr lang="pt-BR" sz="1800" dirty="0"/>
              <a:t> Utiliza-se a função de autocorrelação (ACF) e a função de autocorrelação parcial (PACF) para verificar a presença de autocorrelação nos resíduos.</a:t>
            </a:r>
          </a:p>
          <a:p>
            <a:pPr algn="just"/>
            <a:endParaRPr lang="pt-BR" sz="1800" dirty="0"/>
          </a:p>
        </p:txBody>
      </p:sp>
    </p:spTree>
    <p:extLst>
      <p:ext uri="{BB962C8B-B14F-4D97-AF65-F5344CB8AC3E}">
        <p14:creationId xmlns:p14="http://schemas.microsoft.com/office/powerpoint/2010/main" val="3482343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C9D2F-03F1-DEEF-E720-3FD1CB77E489}"/>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956DB4F1-68FE-035F-CAC1-1D4904547712}"/>
              </a:ext>
            </a:extLst>
          </p:cNvPr>
          <p:cNvSpPr>
            <a:spLocks noChangeArrowheads="1"/>
          </p:cNvSpPr>
          <p:nvPr/>
        </p:nvSpPr>
        <p:spPr bwMode="auto">
          <a:xfrm>
            <a:off x="323527" y="771549"/>
            <a:ext cx="8352929" cy="39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lgn="just"/>
            <a:endParaRPr lang="pt-BR" sz="2000" dirty="0"/>
          </a:p>
        </p:txBody>
      </p:sp>
      <p:sp>
        <p:nvSpPr>
          <p:cNvPr id="18435" name="Text Box 4">
            <a:extLst>
              <a:ext uri="{FF2B5EF4-FFF2-40B4-BE49-F238E27FC236}">
                <a16:creationId xmlns:a16="http://schemas.microsoft.com/office/drawing/2014/main" id="{3158DC76-2DEA-E429-BE11-DB9D4F7BA475}"/>
              </a:ext>
            </a:extLst>
          </p:cNvPr>
          <p:cNvSpPr txBox="1">
            <a:spLocks noChangeArrowheads="1"/>
          </p:cNvSpPr>
          <p:nvPr/>
        </p:nvSpPr>
        <p:spPr bwMode="auto">
          <a:xfrm>
            <a:off x="839159" y="158447"/>
            <a:ext cx="783729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Escolha do Modelo</a:t>
            </a:r>
          </a:p>
        </p:txBody>
      </p:sp>
      <p:sp>
        <p:nvSpPr>
          <p:cNvPr id="2" name="Retângulo 1">
            <a:extLst>
              <a:ext uri="{FF2B5EF4-FFF2-40B4-BE49-F238E27FC236}">
                <a16:creationId xmlns:a16="http://schemas.microsoft.com/office/drawing/2014/main" id="{B3B9D8D3-5375-0CFD-E3F6-EBF1AB471FC1}"/>
              </a:ext>
            </a:extLst>
          </p:cNvPr>
          <p:cNvSpPr/>
          <p:nvPr/>
        </p:nvSpPr>
        <p:spPr>
          <a:xfrm>
            <a:off x="4317101" y="2229736"/>
            <a:ext cx="4572000" cy="307777"/>
          </a:xfrm>
          <a:prstGeom prst="rect">
            <a:avLst/>
          </a:prstGeom>
        </p:spPr>
        <p:txBody>
          <a:bodyPr>
            <a:spAutoFit/>
          </a:bodyPr>
          <a:lstStyle/>
          <a:p>
            <a:endParaRPr lang="pt-BR" dirty="0"/>
          </a:p>
        </p:txBody>
      </p:sp>
      <p:sp>
        <p:nvSpPr>
          <p:cNvPr id="5" name="CaixaDeTexto 4">
            <a:extLst>
              <a:ext uri="{FF2B5EF4-FFF2-40B4-BE49-F238E27FC236}">
                <a16:creationId xmlns:a16="http://schemas.microsoft.com/office/drawing/2014/main" id="{28210821-BB94-E746-5399-A23D82B888DB}"/>
              </a:ext>
            </a:extLst>
          </p:cNvPr>
          <p:cNvSpPr txBox="1"/>
          <p:nvPr/>
        </p:nvSpPr>
        <p:spPr>
          <a:xfrm>
            <a:off x="395536" y="843558"/>
            <a:ext cx="8208912" cy="2862322"/>
          </a:xfrm>
          <a:prstGeom prst="rect">
            <a:avLst/>
          </a:prstGeom>
          <a:noFill/>
        </p:spPr>
        <p:txBody>
          <a:bodyPr wrap="square">
            <a:spAutoFit/>
          </a:bodyPr>
          <a:lstStyle/>
          <a:p>
            <a:pPr algn="just"/>
            <a:r>
              <a:rPr lang="pt-BR" sz="2000" b="1" dirty="0"/>
              <a:t>Critérios de Informação</a:t>
            </a:r>
          </a:p>
          <a:p>
            <a:pPr algn="just"/>
            <a:endParaRPr lang="pt-BR" sz="2000" dirty="0"/>
          </a:p>
          <a:p>
            <a:pPr algn="just"/>
            <a:r>
              <a:rPr lang="pt-BR" sz="2000" b="1" dirty="0"/>
              <a:t>Critério de Informação de </a:t>
            </a:r>
            <a:r>
              <a:rPr lang="pt-BR" sz="2000" b="1" dirty="0" err="1"/>
              <a:t>Akaike</a:t>
            </a:r>
            <a:r>
              <a:rPr lang="pt-BR" sz="2000" b="1" dirty="0"/>
              <a:t> (AIC):</a:t>
            </a:r>
            <a:r>
              <a:rPr lang="pt-BR" sz="2000" dirty="0"/>
              <a:t> Uma medida de qualidade do modelo que considera a complexidade do modelo. Modelos com valores mais baixos de AIC são geralmente preferíveis.</a:t>
            </a:r>
          </a:p>
          <a:p>
            <a:pPr algn="just"/>
            <a:r>
              <a:rPr lang="pt-BR" sz="2000" b="1" dirty="0"/>
              <a:t>Critério de Informação Bayesiano (BIC):</a:t>
            </a:r>
            <a:r>
              <a:rPr lang="pt-BR" sz="2000" dirty="0"/>
              <a:t> Semelhante ao AIC, mas penaliza modelos mais complexos mais fortemente. Um BIC mais baixo indica um modelo melhor.</a:t>
            </a:r>
          </a:p>
          <a:p>
            <a:pPr algn="just"/>
            <a:endParaRPr lang="pt-BR" sz="2000" dirty="0"/>
          </a:p>
        </p:txBody>
      </p:sp>
    </p:spTree>
    <p:extLst>
      <p:ext uri="{BB962C8B-B14F-4D97-AF65-F5344CB8AC3E}">
        <p14:creationId xmlns:p14="http://schemas.microsoft.com/office/powerpoint/2010/main" val="364532348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3DA2D-2A63-A3A9-524E-6B025DE32289}"/>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5A4CB5CA-6A6E-D25F-55B7-CF50F2E00ED7}"/>
              </a:ext>
            </a:extLst>
          </p:cNvPr>
          <p:cNvSpPr>
            <a:spLocks noChangeArrowheads="1"/>
          </p:cNvSpPr>
          <p:nvPr/>
        </p:nvSpPr>
        <p:spPr bwMode="auto">
          <a:xfrm>
            <a:off x="323527" y="771549"/>
            <a:ext cx="8352929" cy="39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lgn="just"/>
            <a:endParaRPr lang="pt-BR" sz="2000" dirty="0"/>
          </a:p>
        </p:txBody>
      </p:sp>
      <p:sp>
        <p:nvSpPr>
          <p:cNvPr id="18435" name="Text Box 4">
            <a:extLst>
              <a:ext uri="{FF2B5EF4-FFF2-40B4-BE49-F238E27FC236}">
                <a16:creationId xmlns:a16="http://schemas.microsoft.com/office/drawing/2014/main" id="{8B2C6EDD-97C3-F173-08B7-BC20FB31815F}"/>
              </a:ext>
            </a:extLst>
          </p:cNvPr>
          <p:cNvSpPr txBox="1">
            <a:spLocks noChangeArrowheads="1"/>
          </p:cNvSpPr>
          <p:nvPr/>
        </p:nvSpPr>
        <p:spPr bwMode="auto">
          <a:xfrm>
            <a:off x="839159" y="158447"/>
            <a:ext cx="783729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Escolha do Modelo</a:t>
            </a:r>
          </a:p>
        </p:txBody>
      </p:sp>
      <p:sp>
        <p:nvSpPr>
          <p:cNvPr id="2" name="Retângulo 1">
            <a:extLst>
              <a:ext uri="{FF2B5EF4-FFF2-40B4-BE49-F238E27FC236}">
                <a16:creationId xmlns:a16="http://schemas.microsoft.com/office/drawing/2014/main" id="{FCC67585-E5BA-C458-F2A8-63BE3CBDAE0A}"/>
              </a:ext>
            </a:extLst>
          </p:cNvPr>
          <p:cNvSpPr/>
          <p:nvPr/>
        </p:nvSpPr>
        <p:spPr>
          <a:xfrm>
            <a:off x="4317101" y="2229736"/>
            <a:ext cx="4572000" cy="307777"/>
          </a:xfrm>
          <a:prstGeom prst="rect">
            <a:avLst/>
          </a:prstGeom>
        </p:spPr>
        <p:txBody>
          <a:bodyPr>
            <a:spAutoFit/>
          </a:bodyPr>
          <a:lstStyle/>
          <a:p>
            <a:endParaRPr lang="pt-BR" dirty="0"/>
          </a:p>
        </p:txBody>
      </p:sp>
      <p:sp>
        <p:nvSpPr>
          <p:cNvPr id="5" name="CaixaDeTexto 4">
            <a:extLst>
              <a:ext uri="{FF2B5EF4-FFF2-40B4-BE49-F238E27FC236}">
                <a16:creationId xmlns:a16="http://schemas.microsoft.com/office/drawing/2014/main" id="{C3FF2E8C-6DF7-1EDE-4513-783A3E667451}"/>
              </a:ext>
            </a:extLst>
          </p:cNvPr>
          <p:cNvSpPr txBox="1"/>
          <p:nvPr/>
        </p:nvSpPr>
        <p:spPr>
          <a:xfrm>
            <a:off x="395536" y="843558"/>
            <a:ext cx="8208912" cy="3139321"/>
          </a:xfrm>
          <a:prstGeom prst="rect">
            <a:avLst/>
          </a:prstGeom>
          <a:noFill/>
        </p:spPr>
        <p:txBody>
          <a:bodyPr wrap="square">
            <a:spAutoFit/>
          </a:bodyPr>
          <a:lstStyle/>
          <a:p>
            <a:pPr algn="just"/>
            <a:r>
              <a:rPr lang="pt-BR" sz="1800" b="1" dirty="0"/>
              <a:t>Capacidade de Generalização</a:t>
            </a:r>
            <a:endParaRPr lang="pt-BR" sz="1800" dirty="0"/>
          </a:p>
          <a:p>
            <a:pPr algn="just"/>
            <a:r>
              <a:rPr lang="pt-BR" sz="1800" b="1" dirty="0"/>
              <a:t>Validação Cruzada para Séries Temporais:</a:t>
            </a:r>
            <a:r>
              <a:rPr lang="pt-BR" sz="1800" dirty="0"/>
              <a:t> Diferentemente da validação cruzada tradicional, a validação cruzada para séries temporais leva em conta a ordem temporal dos dados. Isso pode ajudar a avaliar a capacidade do modelo de generalizar para novos dados.</a:t>
            </a:r>
          </a:p>
          <a:p>
            <a:pPr algn="just"/>
            <a:endParaRPr lang="pt-BR" sz="1800" b="1" dirty="0"/>
          </a:p>
          <a:p>
            <a:pPr algn="just"/>
            <a:endParaRPr lang="pt-BR" sz="1800" b="1" dirty="0"/>
          </a:p>
          <a:p>
            <a:pPr algn="just"/>
            <a:r>
              <a:rPr lang="pt-BR" sz="1800" b="1" dirty="0"/>
              <a:t>Considerações Práticas</a:t>
            </a:r>
            <a:endParaRPr lang="pt-BR" sz="1800" dirty="0"/>
          </a:p>
          <a:p>
            <a:pPr algn="just"/>
            <a:r>
              <a:rPr lang="pt-BR" sz="1800" b="1" dirty="0"/>
              <a:t>Complexidade do Modelo:</a:t>
            </a:r>
            <a:r>
              <a:rPr lang="pt-BR" sz="1800" dirty="0"/>
              <a:t> Modelos mais simples são geralmente preferíveis devido à facilidade de interpretação e menor risco de </a:t>
            </a:r>
            <a:r>
              <a:rPr lang="pt-BR" sz="1800" dirty="0" err="1"/>
              <a:t>sobreajuste</a:t>
            </a:r>
            <a:r>
              <a:rPr lang="pt-BR" sz="1800" dirty="0"/>
              <a:t>.</a:t>
            </a:r>
          </a:p>
          <a:p>
            <a:pPr algn="just"/>
            <a:endParaRPr lang="pt-BR" sz="1800" dirty="0"/>
          </a:p>
        </p:txBody>
      </p:sp>
    </p:spTree>
    <p:extLst>
      <p:ext uri="{BB962C8B-B14F-4D97-AF65-F5344CB8AC3E}">
        <p14:creationId xmlns:p14="http://schemas.microsoft.com/office/powerpoint/2010/main" val="233179400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E9512-35C8-7BDD-8BC2-E11CFD617D96}"/>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950A3DF1-EFEE-B25C-51D7-F80FE628A7C6}"/>
              </a:ext>
            </a:extLst>
          </p:cNvPr>
          <p:cNvSpPr>
            <a:spLocks noChangeArrowheads="1"/>
          </p:cNvSpPr>
          <p:nvPr/>
        </p:nvSpPr>
        <p:spPr bwMode="auto">
          <a:xfrm>
            <a:off x="323527" y="771549"/>
            <a:ext cx="8352929" cy="39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lgn="just"/>
            <a:endParaRPr lang="pt-BR" sz="2000" dirty="0"/>
          </a:p>
        </p:txBody>
      </p:sp>
      <p:sp>
        <p:nvSpPr>
          <p:cNvPr id="18435" name="Text Box 4">
            <a:extLst>
              <a:ext uri="{FF2B5EF4-FFF2-40B4-BE49-F238E27FC236}">
                <a16:creationId xmlns:a16="http://schemas.microsoft.com/office/drawing/2014/main" id="{237F02E4-752A-5B47-7B68-336440A4391E}"/>
              </a:ext>
            </a:extLst>
          </p:cNvPr>
          <p:cNvSpPr txBox="1">
            <a:spLocks noChangeArrowheads="1"/>
          </p:cNvSpPr>
          <p:nvPr/>
        </p:nvSpPr>
        <p:spPr bwMode="auto">
          <a:xfrm>
            <a:off x="839159" y="158447"/>
            <a:ext cx="783729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Escolha do Modelo</a:t>
            </a:r>
          </a:p>
        </p:txBody>
      </p:sp>
      <p:sp>
        <p:nvSpPr>
          <p:cNvPr id="2" name="Retângulo 1">
            <a:extLst>
              <a:ext uri="{FF2B5EF4-FFF2-40B4-BE49-F238E27FC236}">
                <a16:creationId xmlns:a16="http://schemas.microsoft.com/office/drawing/2014/main" id="{E19D1F0F-DC65-1E45-6609-7E105E8418FD}"/>
              </a:ext>
            </a:extLst>
          </p:cNvPr>
          <p:cNvSpPr/>
          <p:nvPr/>
        </p:nvSpPr>
        <p:spPr>
          <a:xfrm>
            <a:off x="4317101" y="2229736"/>
            <a:ext cx="4572000" cy="307777"/>
          </a:xfrm>
          <a:prstGeom prst="rect">
            <a:avLst/>
          </a:prstGeom>
        </p:spPr>
        <p:txBody>
          <a:bodyPr>
            <a:spAutoFit/>
          </a:bodyPr>
          <a:lstStyle/>
          <a:p>
            <a:endParaRPr lang="pt-BR" dirty="0"/>
          </a:p>
        </p:txBody>
      </p:sp>
      <p:sp>
        <p:nvSpPr>
          <p:cNvPr id="5" name="CaixaDeTexto 4">
            <a:extLst>
              <a:ext uri="{FF2B5EF4-FFF2-40B4-BE49-F238E27FC236}">
                <a16:creationId xmlns:a16="http://schemas.microsoft.com/office/drawing/2014/main" id="{8F9F9550-EB76-DB2D-9497-68C84131395B}"/>
              </a:ext>
            </a:extLst>
          </p:cNvPr>
          <p:cNvSpPr txBox="1"/>
          <p:nvPr/>
        </p:nvSpPr>
        <p:spPr>
          <a:xfrm>
            <a:off x="395536" y="843558"/>
            <a:ext cx="8208912" cy="3970318"/>
          </a:xfrm>
          <a:prstGeom prst="rect">
            <a:avLst/>
          </a:prstGeom>
          <a:noFill/>
        </p:spPr>
        <p:txBody>
          <a:bodyPr wrap="square">
            <a:spAutoFit/>
          </a:bodyPr>
          <a:lstStyle/>
          <a:p>
            <a:pPr algn="just"/>
            <a:r>
              <a:rPr lang="pt-BR" sz="1800" b="1" dirty="0"/>
              <a:t>Capacidade de Generalização</a:t>
            </a:r>
            <a:endParaRPr lang="pt-BR" sz="1800" dirty="0"/>
          </a:p>
          <a:p>
            <a:pPr algn="just"/>
            <a:r>
              <a:rPr lang="pt-BR" sz="1800" b="1" dirty="0"/>
              <a:t>Validação Cruzada para Séries Temporais:</a:t>
            </a:r>
            <a:r>
              <a:rPr lang="pt-BR" sz="1800" dirty="0"/>
              <a:t> Diferentemente da validação cruzada tradicional, a validação cruzada para séries temporais leva em conta a ordem temporal dos dados. Isso pode ajudar a avaliar a capacidade do modelo de generalizar para novos dados.</a:t>
            </a:r>
          </a:p>
          <a:p>
            <a:pPr algn="just"/>
            <a:endParaRPr lang="pt-BR" sz="1800" b="1" dirty="0"/>
          </a:p>
          <a:p>
            <a:pPr algn="just"/>
            <a:r>
              <a:rPr lang="pt-BR" sz="1800" b="1" dirty="0"/>
              <a:t>Considerações Práticas</a:t>
            </a:r>
            <a:endParaRPr lang="pt-BR" sz="1800" dirty="0"/>
          </a:p>
          <a:p>
            <a:pPr algn="just"/>
            <a:r>
              <a:rPr lang="pt-BR" sz="1800" b="1" dirty="0"/>
              <a:t>Complexidade do Modelo:</a:t>
            </a:r>
            <a:r>
              <a:rPr lang="pt-BR" sz="1800" dirty="0"/>
              <a:t> Modelos mais simples são geralmente preferíveis devido à facilidade de interpretação e menor risco de </a:t>
            </a:r>
            <a:r>
              <a:rPr lang="pt-BR" sz="1800" dirty="0" err="1"/>
              <a:t>sobreajuste</a:t>
            </a:r>
            <a:r>
              <a:rPr lang="pt-BR" sz="1800" dirty="0"/>
              <a:t>.</a:t>
            </a:r>
          </a:p>
          <a:p>
            <a:pPr algn="just"/>
            <a:r>
              <a:rPr lang="pt-BR" sz="1800" b="1" dirty="0"/>
              <a:t>Requisitos Computacionais:</a:t>
            </a:r>
            <a:r>
              <a:rPr lang="pt-BR" sz="1800" dirty="0"/>
              <a:t> Modelos que exigem menos recursos computacionais podem ser preferíveis em ambientes de produção, especialmente para previsões em tempo real.</a:t>
            </a:r>
          </a:p>
          <a:p>
            <a:pPr algn="just"/>
            <a:endParaRPr lang="pt-BR" sz="1800" dirty="0"/>
          </a:p>
          <a:p>
            <a:pPr algn="just"/>
            <a:endParaRPr lang="pt-BR" sz="1800" dirty="0"/>
          </a:p>
        </p:txBody>
      </p:sp>
    </p:spTree>
    <p:extLst>
      <p:ext uri="{BB962C8B-B14F-4D97-AF65-F5344CB8AC3E}">
        <p14:creationId xmlns:p14="http://schemas.microsoft.com/office/powerpoint/2010/main" val="350301651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6623F-ECB0-2CE2-9A37-BB88B3AF19D4}"/>
            </a:ext>
          </a:extLst>
        </p:cNvPr>
        <p:cNvGrpSpPr/>
        <p:nvPr/>
      </p:nvGrpSpPr>
      <p:grpSpPr>
        <a:xfrm>
          <a:off x="0" y="0"/>
          <a:ext cx="0" cy="0"/>
          <a:chOff x="0" y="0"/>
          <a:chExt cx="0" cy="0"/>
        </a:xfrm>
      </p:grpSpPr>
      <p:sp>
        <p:nvSpPr>
          <p:cNvPr id="182275" name="Rectangle 3">
            <a:extLst>
              <a:ext uri="{FF2B5EF4-FFF2-40B4-BE49-F238E27FC236}">
                <a16:creationId xmlns:a16="http://schemas.microsoft.com/office/drawing/2014/main" id="{D3F4B997-1089-B871-B480-92AD1E845D03}"/>
              </a:ext>
            </a:extLst>
          </p:cNvPr>
          <p:cNvSpPr>
            <a:spLocks noChangeArrowheads="1"/>
          </p:cNvSpPr>
          <p:nvPr/>
        </p:nvSpPr>
        <p:spPr bwMode="auto">
          <a:xfrm>
            <a:off x="323527" y="771549"/>
            <a:ext cx="8352929" cy="39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lgn="just"/>
            <a:endParaRPr lang="pt-BR" sz="2000" dirty="0"/>
          </a:p>
        </p:txBody>
      </p:sp>
      <p:sp>
        <p:nvSpPr>
          <p:cNvPr id="18435" name="Text Box 4">
            <a:extLst>
              <a:ext uri="{FF2B5EF4-FFF2-40B4-BE49-F238E27FC236}">
                <a16:creationId xmlns:a16="http://schemas.microsoft.com/office/drawing/2014/main" id="{93D4DC78-870A-7EA2-A812-90A062BF1C9C}"/>
              </a:ext>
            </a:extLst>
          </p:cNvPr>
          <p:cNvSpPr txBox="1">
            <a:spLocks noChangeArrowheads="1"/>
          </p:cNvSpPr>
          <p:nvPr/>
        </p:nvSpPr>
        <p:spPr bwMode="auto">
          <a:xfrm>
            <a:off x="839159" y="158447"/>
            <a:ext cx="7837297"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pt-BR" altLang="pt-BR" sz="2700" b="1" i="1" dirty="0">
                <a:solidFill>
                  <a:srgbClr val="0033CC"/>
                </a:solidFill>
                <a:latin typeface="Verdana" panose="020B0604030504040204" pitchFamily="34" charset="0"/>
              </a:rPr>
              <a:t>Escolha do Modelo</a:t>
            </a:r>
          </a:p>
        </p:txBody>
      </p:sp>
      <p:sp>
        <p:nvSpPr>
          <p:cNvPr id="2" name="Retângulo 1">
            <a:extLst>
              <a:ext uri="{FF2B5EF4-FFF2-40B4-BE49-F238E27FC236}">
                <a16:creationId xmlns:a16="http://schemas.microsoft.com/office/drawing/2014/main" id="{D68260A7-76B4-24E0-476A-21331CA3EED8}"/>
              </a:ext>
            </a:extLst>
          </p:cNvPr>
          <p:cNvSpPr/>
          <p:nvPr/>
        </p:nvSpPr>
        <p:spPr>
          <a:xfrm>
            <a:off x="4317101" y="2229736"/>
            <a:ext cx="4572000" cy="307777"/>
          </a:xfrm>
          <a:prstGeom prst="rect">
            <a:avLst/>
          </a:prstGeom>
        </p:spPr>
        <p:txBody>
          <a:bodyPr>
            <a:spAutoFit/>
          </a:bodyPr>
          <a:lstStyle/>
          <a:p>
            <a:endParaRPr lang="pt-BR" dirty="0"/>
          </a:p>
        </p:txBody>
      </p:sp>
      <p:sp>
        <p:nvSpPr>
          <p:cNvPr id="5" name="CaixaDeTexto 4">
            <a:extLst>
              <a:ext uri="{FF2B5EF4-FFF2-40B4-BE49-F238E27FC236}">
                <a16:creationId xmlns:a16="http://schemas.microsoft.com/office/drawing/2014/main" id="{C1A4B257-6F81-C777-B399-1588FD028A20}"/>
              </a:ext>
            </a:extLst>
          </p:cNvPr>
          <p:cNvSpPr txBox="1"/>
          <p:nvPr/>
        </p:nvSpPr>
        <p:spPr>
          <a:xfrm>
            <a:off x="395536" y="843558"/>
            <a:ext cx="8208912" cy="3785652"/>
          </a:xfrm>
          <a:prstGeom prst="rect">
            <a:avLst/>
          </a:prstGeom>
          <a:noFill/>
        </p:spPr>
        <p:txBody>
          <a:bodyPr wrap="square">
            <a:spAutoFit/>
          </a:bodyPr>
          <a:lstStyle/>
          <a:p>
            <a:pPr algn="just"/>
            <a:r>
              <a:rPr lang="pt-BR" sz="2400" dirty="0"/>
              <a:t>A seleção do melhor modelo envolve um equilíbrio entre precisão de previsão, simplicidade do modelo e capacidade de generalização. Idealmente, o modelo escolhido deve ter bom desempenho de acordo com as métricas quantitativas acima, enquanto ainda é interpretável e viável do ponto de vista computacional.</a:t>
            </a:r>
          </a:p>
          <a:p>
            <a:pPr algn="just"/>
            <a:endParaRPr lang="pt-BR" sz="2400" dirty="0"/>
          </a:p>
          <a:p>
            <a:pPr algn="just"/>
            <a:r>
              <a:rPr lang="pt-BR" sz="2400" dirty="0"/>
              <a:t> Avaliar múltiplos modelos com esses critérios em mente pode ajudar a identificar a abordagem mais adequada para uma dada série temporal.</a:t>
            </a:r>
          </a:p>
        </p:txBody>
      </p:sp>
    </p:spTree>
    <p:extLst>
      <p:ext uri="{BB962C8B-B14F-4D97-AF65-F5344CB8AC3E}">
        <p14:creationId xmlns:p14="http://schemas.microsoft.com/office/powerpoint/2010/main" val="76940857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nodePh="1">
                                  <p:stCondLst>
                                    <p:cond delay="0"/>
                                  </p:stCondLst>
                                  <p:endCondLst>
                                    <p:cond evt="begin" delay="0">
                                      <p:tn val="5"/>
                                    </p:cond>
                                  </p:endCondLst>
                                  <p:childTnLst>
                                    <p:set>
                                      <p:cBhvr>
                                        <p:cTn id="6" dur="1" fill="hold">
                                          <p:stCondLst>
                                            <p:cond delay="0"/>
                                          </p:stCondLst>
                                        </p:cTn>
                                        <p:tgtEl>
                                          <p:spTgt spid="182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p:bldLst>
  </p:timing>
</p:sld>
</file>

<file path=ppt/theme/theme1.xml><?xml version="1.0" encoding="utf-8"?>
<a:theme xmlns:a="http://schemas.openxmlformats.org/drawingml/2006/main" name="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po de Leite">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10499</TotalTime>
  <Words>2789</Words>
  <Application>Microsoft Office PowerPoint</Application>
  <PresentationFormat>Apresentação na tela (16:9)</PresentationFormat>
  <Paragraphs>136</Paragraphs>
  <Slides>26</Slides>
  <Notes>26</Notes>
  <HiddenSlides>1</HiddenSlides>
  <MMClips>0</MMClips>
  <ScaleCrop>false</ScaleCrop>
  <HeadingPairs>
    <vt:vector size="6" baseType="variant">
      <vt:variant>
        <vt:lpstr>Fontes usadas</vt:lpstr>
      </vt:variant>
      <vt:variant>
        <vt:i4>3</vt:i4>
      </vt:variant>
      <vt:variant>
        <vt:lpstr>Tema</vt:lpstr>
      </vt:variant>
      <vt:variant>
        <vt:i4>8</vt:i4>
      </vt:variant>
      <vt:variant>
        <vt:lpstr>Títulos de slides</vt:lpstr>
      </vt:variant>
      <vt:variant>
        <vt:i4>26</vt:i4>
      </vt:variant>
    </vt:vector>
  </HeadingPairs>
  <TitlesOfParts>
    <vt:vector size="37" baseType="lpstr">
      <vt:lpstr>Arial</vt:lpstr>
      <vt:lpstr>Verdana</vt:lpstr>
      <vt:lpstr>Calibri</vt:lpstr>
      <vt:lpstr>Personalizar design</vt:lpstr>
      <vt:lpstr>1_Personalizar design</vt:lpstr>
      <vt:lpstr>2_Personalizar design</vt:lpstr>
      <vt:lpstr>3_Personalizar design</vt:lpstr>
      <vt:lpstr>4_Personalizar design</vt:lpstr>
      <vt:lpstr>5_Personalizar design</vt:lpstr>
      <vt:lpstr>6_Personalizar design</vt:lpstr>
      <vt:lpstr>7_Personalizar design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subject>Curso_Lógica - TREINA RECIFE</dc:subject>
  <dc:creator>Rogerio Aguiar</dc:creator>
  <cp:keywords>Treina Recife</cp:keywords>
  <cp:lastModifiedBy>Fernando Calabria</cp:lastModifiedBy>
  <cp:revision>23</cp:revision>
  <cp:lastPrinted>2023-04-24T16:47:04Z</cp:lastPrinted>
  <dcterms:created xsi:type="dcterms:W3CDTF">2020-01-19T22:21:58Z</dcterms:created>
  <dcterms:modified xsi:type="dcterms:W3CDTF">2025-09-07T16:39:06Z</dcterms:modified>
</cp:coreProperties>
</file>